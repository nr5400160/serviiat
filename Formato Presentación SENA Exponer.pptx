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embeddedFontLst>
    <p:embeddedFont>
      <p:font typeface="Work Sans"/>
      <p:regular r:id="rId29"/>
      <p:bold r:id="rId30"/>
      <p:italic r:id="rId31"/>
      <p:boldItalic r:id="rId32"/>
    </p:embeddedFont>
    <p:embeddedFont>
      <p:font typeface="Work Sans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kGuEPNvHxiXWgkmPuQXx1pzm7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WorkSans-italic.fntdata"/><Relationship Id="rId30" Type="http://schemas.openxmlformats.org/officeDocument/2006/relationships/font" Target="fonts/WorkSans-bold.fntdata"/><Relationship Id="rId11" Type="http://schemas.openxmlformats.org/officeDocument/2006/relationships/slide" Target="slides/slide7.xml"/><Relationship Id="rId33" Type="http://schemas.openxmlformats.org/officeDocument/2006/relationships/font" Target="fonts/WorkSansLight-regular.fntdata"/><Relationship Id="rId10" Type="http://schemas.openxmlformats.org/officeDocument/2006/relationships/slide" Target="slides/slide6.xml"/><Relationship Id="rId32" Type="http://schemas.openxmlformats.org/officeDocument/2006/relationships/font" Target="fonts/WorkSans-boldItalic.fntdata"/><Relationship Id="rId13" Type="http://schemas.openxmlformats.org/officeDocument/2006/relationships/slide" Target="slides/slide9.xml"/><Relationship Id="rId35" Type="http://schemas.openxmlformats.org/officeDocument/2006/relationships/font" Target="fonts/WorkSansLight-italic.fntdata"/><Relationship Id="rId12" Type="http://schemas.openxmlformats.org/officeDocument/2006/relationships/slide" Target="slides/slide8.xml"/><Relationship Id="rId34" Type="http://schemas.openxmlformats.org/officeDocument/2006/relationships/font" Target="fonts/WorkSansLight-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WorkSansLight-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63ff54d7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663ff54d7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3663ff54d7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8"/>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9"/>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0" name="Shape 20"/>
        <p:cNvGrpSpPr/>
        <p:nvPr/>
      </p:nvGrpSpPr>
      <p:grpSpPr>
        <a:xfrm>
          <a:off x="0" y="0"/>
          <a:ext cx="0" cy="0"/>
          <a:chOff x="0" y="0"/>
          <a:chExt cx="0" cy="0"/>
        </a:xfrm>
      </p:grpSpPr>
      <p:sp>
        <p:nvSpPr>
          <p:cNvPr id="21" name="Google Shape;2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4" name="Shape 24"/>
        <p:cNvGrpSpPr/>
        <p:nvPr/>
      </p:nvGrpSpPr>
      <p:grpSpPr>
        <a:xfrm>
          <a:off x="0" y="0"/>
          <a:ext cx="0" cy="0"/>
          <a:chOff x="0" y="0"/>
          <a:chExt cx="0" cy="0"/>
        </a:xfrm>
      </p:grpSpPr>
      <p:sp>
        <p:nvSpPr>
          <p:cNvPr id="25" name="Google Shape;25;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0" name="Shape 30"/>
        <p:cNvGrpSpPr/>
        <p:nvPr/>
      </p:nvGrpSpPr>
      <p:grpSpPr>
        <a:xfrm>
          <a:off x="0" y="0"/>
          <a:ext cx="0" cy="0"/>
          <a:chOff x="0" y="0"/>
          <a:chExt cx="0" cy="0"/>
        </a:xfrm>
      </p:grpSpPr>
      <p:sp>
        <p:nvSpPr>
          <p:cNvPr id="31" name="Google Shape;3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6" name="Shape 36"/>
        <p:cNvGrpSpPr/>
        <p:nvPr/>
      </p:nvGrpSpPr>
      <p:grpSpPr>
        <a:xfrm>
          <a:off x="0" y="0"/>
          <a:ext cx="0" cy="0"/>
          <a:chOff x="0" y="0"/>
          <a:chExt cx="0" cy="0"/>
        </a:xfrm>
      </p:grpSpPr>
      <p:sp>
        <p:nvSpPr>
          <p:cNvPr id="37" name="Google Shape;37;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2" name="Shape 42"/>
        <p:cNvGrpSpPr/>
        <p:nvPr/>
      </p:nvGrpSpPr>
      <p:grpSpPr>
        <a:xfrm>
          <a:off x="0" y="0"/>
          <a:ext cx="0" cy="0"/>
          <a:chOff x="0" y="0"/>
          <a:chExt cx="0" cy="0"/>
        </a:xfrm>
      </p:grpSpPr>
      <p:sp>
        <p:nvSpPr>
          <p:cNvPr id="43" name="Google Shape;4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9" name="Shape 49"/>
        <p:cNvGrpSpPr/>
        <p:nvPr/>
      </p:nvGrpSpPr>
      <p:grpSpPr>
        <a:xfrm>
          <a:off x="0" y="0"/>
          <a:ext cx="0" cy="0"/>
          <a:chOff x="0" y="0"/>
          <a:chExt cx="0" cy="0"/>
        </a:xfrm>
      </p:grpSpPr>
      <p:sp>
        <p:nvSpPr>
          <p:cNvPr id="50" name="Google Shape;50;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8" name="Shape 58"/>
        <p:cNvGrpSpPr/>
        <p:nvPr/>
      </p:nvGrpSpPr>
      <p:grpSpPr>
        <a:xfrm>
          <a:off x="0" y="0"/>
          <a:ext cx="0" cy="0"/>
          <a:chOff x="0" y="0"/>
          <a:chExt cx="0" cy="0"/>
        </a:xfrm>
      </p:grpSpPr>
      <p:sp>
        <p:nvSpPr>
          <p:cNvPr id="59" name="Google Shape;5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0" name="Shape 70"/>
        <p:cNvGrpSpPr/>
        <p:nvPr/>
      </p:nvGrpSpPr>
      <p:grpSpPr>
        <a:xfrm>
          <a:off x="0" y="0"/>
          <a:ext cx="0" cy="0"/>
          <a:chOff x="0" y="0"/>
          <a:chExt cx="0" cy="0"/>
        </a:xfrm>
      </p:grpSpPr>
      <p:sp>
        <p:nvSpPr>
          <p:cNvPr id="71" name="Google Shape;71;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8"/>
          <p:cNvSpPr/>
          <p:nvPr>
            <p:ph idx="2" type="pic"/>
          </p:nvPr>
        </p:nvSpPr>
        <p:spPr>
          <a:xfrm>
            <a:off x="5183188" y="987425"/>
            <a:ext cx="6172200" cy="4873625"/>
          </a:xfrm>
          <a:prstGeom prst="rect">
            <a:avLst/>
          </a:prstGeom>
          <a:noFill/>
          <a:ln>
            <a:noFill/>
          </a:ln>
        </p:spPr>
      </p:sp>
      <p:sp>
        <p:nvSpPr>
          <p:cNvPr id="73" name="Google Shape;73;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7" name="Shape 77"/>
        <p:cNvGrpSpPr/>
        <p:nvPr/>
      </p:nvGrpSpPr>
      <p:grpSpPr>
        <a:xfrm>
          <a:off x="0" y="0"/>
          <a:ext cx="0" cy="0"/>
          <a:chOff x="0" y="0"/>
          <a:chExt cx="0" cy="0"/>
        </a:xfrm>
      </p:grpSpPr>
      <p:sp>
        <p:nvSpPr>
          <p:cNvPr id="78" name="Google Shape;7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9" name="Shape 89"/>
        <p:cNvGrpSpPr/>
        <p:nvPr/>
      </p:nvGrpSpPr>
      <p:grpSpPr>
        <a:xfrm>
          <a:off x="0" y="0"/>
          <a:ext cx="0" cy="0"/>
          <a:chOff x="0" y="0"/>
          <a:chExt cx="0" cy="0"/>
        </a:xfrm>
      </p:grpSpPr>
      <p:sp>
        <p:nvSpPr>
          <p:cNvPr id="90" name="Google Shape;9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png"/><Relationship Id="rId4" Type="http://schemas.openxmlformats.org/officeDocument/2006/relationships/image" Target="../media/image21.png"/><Relationship Id="rId5" Type="http://schemas.openxmlformats.org/officeDocument/2006/relationships/hyperlink" Target="https://www.figma.com/make/YZurSk2ZZmKrpz7CXOCBxo/Prototipo-Interactivo-SERVIAT?t=i8akzrdkZrTiMbUy-20&amp;fullscreen=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19.png"/><Relationship Id="rId5" Type="http://schemas.openxmlformats.org/officeDocument/2006/relationships/image" Target="../media/image34.png"/><Relationship Id="rId6" Type="http://schemas.openxmlformats.org/officeDocument/2006/relationships/image" Target="../media/image26.png"/><Relationship Id="rId7"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25.png"/><Relationship Id="rId5"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45.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nvSpPr>
        <p:spPr>
          <a:xfrm>
            <a:off x="995422" y="2562323"/>
            <a:ext cx="6453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MX" sz="5400" u="none" cap="none" strike="noStrike">
                <a:solidFill>
                  <a:srgbClr val="3F3F3F"/>
                </a:solidFill>
                <a:latin typeface="Work Sans"/>
                <a:ea typeface="Work Sans"/>
                <a:cs typeface="Work Sans"/>
                <a:sym typeface="Work Sans"/>
              </a:rPr>
              <a:t>ServiAT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400"/>
              <a:buFont typeface="Arial"/>
              <a:buNone/>
            </a:pPr>
            <a:r>
              <a:rPr b="1" i="0" lang="es-MX" sz="5400" u="none" cap="none" strike="noStrike">
                <a:solidFill>
                  <a:srgbClr val="3F3F3F"/>
                </a:solidFill>
                <a:latin typeface="Work Sans"/>
                <a:ea typeface="Work Sans"/>
                <a:cs typeface="Work Sans"/>
                <a:sym typeface="Work Sans"/>
              </a:rPr>
              <a:t>(Servicios Rápidos y Confiables)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2"/>
          <p:cNvSpPr/>
          <p:nvPr/>
        </p:nvSpPr>
        <p:spPr>
          <a:xfrm>
            <a:off x="1157468" y="1033445"/>
            <a:ext cx="2939970" cy="115730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nvSpPr>
        <p:spPr>
          <a:xfrm>
            <a:off x="1157477" y="1033450"/>
            <a:ext cx="3617100" cy="1825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Objetivo General</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630625" y="2729400"/>
            <a:ext cx="4373400" cy="2770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222222"/>
              </a:buClr>
              <a:buSzPts val="2000"/>
              <a:buFont typeface="Arial"/>
              <a:buChar char="●"/>
            </a:pPr>
            <a:r>
              <a:rPr b="0" i="0" lang="es-MX" sz="2000" u="none" cap="none" strike="noStrike">
                <a:solidFill>
                  <a:srgbClr val="222222"/>
                </a:solidFill>
                <a:latin typeface="Arial"/>
                <a:ea typeface="Arial"/>
                <a:cs typeface="Arial"/>
                <a:sym typeface="Arial"/>
              </a:rPr>
              <a:t>Desarrollar un sistema de información web para la empresa </a:t>
            </a:r>
            <a:r>
              <a:rPr b="1" i="0" lang="es-MX" sz="2000" u="none" cap="none" strike="noStrike">
                <a:solidFill>
                  <a:srgbClr val="222222"/>
                </a:solidFill>
                <a:latin typeface="Arial"/>
                <a:ea typeface="Arial"/>
                <a:cs typeface="Arial"/>
                <a:sym typeface="Arial"/>
              </a:rPr>
              <a:t>AR Asistencia Técnica sas, </a:t>
            </a:r>
            <a:r>
              <a:rPr b="0" i="0" lang="es-MX" sz="2000" u="none" cap="none" strike="noStrike">
                <a:solidFill>
                  <a:srgbClr val="222222"/>
                </a:solidFill>
                <a:latin typeface="Arial"/>
                <a:ea typeface="Arial"/>
                <a:cs typeface="Arial"/>
                <a:sym typeface="Arial"/>
              </a:rPr>
              <a:t>que gestione las solicitudes de servicio, instalación y reparación de equipos industriales de cocina  HORECA y de hogar.</a:t>
            </a:r>
            <a:endParaRPr b="0" i="0" sz="2000" u="none" cap="none" strike="noStrike">
              <a:solidFill>
                <a:srgbClr val="22222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1" sz="1400" u="none" cap="none" strike="noStrike">
              <a:solidFill>
                <a:srgbClr val="000000"/>
              </a:solidFill>
              <a:highlight>
                <a:srgbClr val="FFFF00"/>
              </a:highlight>
              <a:latin typeface="Arial"/>
              <a:ea typeface="Arial"/>
              <a:cs typeface="Arial"/>
              <a:sym typeface="Arial"/>
            </a:endParaRPr>
          </a:p>
        </p:txBody>
      </p:sp>
      <p:pic>
        <p:nvPicPr>
          <p:cNvPr descr="TODO SOBRE LAS PLATAFORMAS DIGITALES: ¿QUÉ TIPOS EXISTEN?" id="107" name="Google Shape;107;p2"/>
          <p:cNvPicPr preferRelativeResize="0"/>
          <p:nvPr/>
        </p:nvPicPr>
        <p:blipFill rotWithShape="1">
          <a:blip r:embed="rId4">
            <a:alphaModFix/>
          </a:blip>
          <a:srcRect b="0" l="0" r="6569" t="12842"/>
          <a:stretch/>
        </p:blipFill>
        <p:spPr>
          <a:xfrm>
            <a:off x="6259287" y="1915886"/>
            <a:ext cx="5356702" cy="31718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3"/>
          <p:cNvSpPr/>
          <p:nvPr/>
        </p:nvSpPr>
        <p:spPr>
          <a:xfrm>
            <a:off x="509954" y="308750"/>
            <a:ext cx="5864469" cy="54410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txBox="1"/>
          <p:nvPr/>
        </p:nvSpPr>
        <p:spPr>
          <a:xfrm>
            <a:off x="440425" y="308750"/>
            <a:ext cx="6306120" cy="1309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Objetivos Específicos</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270397" y="1248159"/>
            <a:ext cx="5717165" cy="483205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MX" sz="1400" u="none" cap="none" strike="noStrike">
                <a:solidFill>
                  <a:srgbClr val="222222"/>
                </a:solidFill>
                <a:latin typeface="Arial"/>
                <a:ea typeface="Arial"/>
                <a:cs typeface="Arial"/>
                <a:sym typeface="Arial"/>
              </a:rPr>
              <a:t> 1.Generar una orden de servicio ingresando los datos del cliente, la descripción de la solicitud de reparación o instalación, garantizando que la información quede registrada de forma completa y disponible para su seguimiento.</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s-MX" sz="1400" u="none" cap="none" strike="noStrike">
                <a:solidFill>
                  <a:srgbClr val="222222"/>
                </a:solidFill>
                <a:latin typeface="Arial"/>
                <a:ea typeface="Arial"/>
                <a:cs typeface="Arial"/>
                <a:sym typeface="Arial"/>
              </a:rPr>
              <a:t> 2. Desarrollar un </a:t>
            </a:r>
            <a:r>
              <a:rPr b="0" i="0" lang="es-MX" sz="1400" u="none" cap="none" strike="noStrike">
                <a:solidFill>
                  <a:srgbClr val="222222"/>
                </a:solidFill>
                <a:highlight>
                  <a:schemeClr val="lt1"/>
                </a:highlight>
                <a:latin typeface="Arial"/>
                <a:ea typeface="Arial"/>
                <a:cs typeface="Arial"/>
                <a:sym typeface="Arial"/>
              </a:rPr>
              <a:t>módulo </a:t>
            </a:r>
            <a:r>
              <a:rPr b="0" i="0" lang="es-MX" sz="1400" u="none" cap="none" strike="noStrike">
                <a:solidFill>
                  <a:srgbClr val="222222"/>
                </a:solidFill>
                <a:latin typeface="Arial"/>
                <a:ea typeface="Arial"/>
                <a:cs typeface="Arial"/>
                <a:sym typeface="Arial"/>
              </a:rPr>
              <a:t>de autenticación y control de acceso para la seguridad de los usuarios mediante validación de credenciales y manejo de roles.  </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s-MX" sz="1400" u="none" cap="none" strike="noStrike">
                <a:solidFill>
                  <a:srgbClr val="222222"/>
                </a:solidFill>
                <a:latin typeface="Arial"/>
                <a:ea typeface="Arial"/>
                <a:cs typeface="Arial"/>
                <a:sym typeface="Arial"/>
              </a:rPr>
              <a:t> 3. Construir una interfaz de usuario que se adapten a cualquier dispositivo y permita a los usuarios consultar y reservar de forma sencilla, garantizando una buena experiencia  tanto en computador como en celular o tableta.</a:t>
            </a:r>
            <a:endParaRPr b="0" i="0" sz="1400" u="none" cap="none" strike="noStrike">
              <a:solidFill>
                <a:srgbClr val="222222"/>
              </a:solidFill>
              <a:highlight>
                <a:srgbClr val="FFFF00"/>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400" u="none" cap="none" strike="noStrike">
              <a:solidFill>
                <a:srgbClr val="222222"/>
              </a:solidFill>
              <a:highlight>
                <a:schemeClr val="dk1"/>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s-MX" sz="1400" u="none" cap="none" strike="noStrike">
                <a:solidFill>
                  <a:srgbClr val="222222"/>
                </a:solidFill>
                <a:latin typeface="Arial"/>
                <a:ea typeface="Arial"/>
                <a:cs typeface="Arial"/>
                <a:sym typeface="Arial"/>
              </a:rPr>
              <a:t> 4.Implementar un </a:t>
            </a:r>
            <a:r>
              <a:rPr b="0" i="0" lang="es-MX" sz="1400" u="none" cap="none" strike="noStrike">
                <a:solidFill>
                  <a:srgbClr val="000000"/>
                </a:solidFill>
                <a:highlight>
                  <a:schemeClr val="lt1"/>
                </a:highlight>
                <a:latin typeface="Arial"/>
                <a:ea typeface="Arial"/>
                <a:cs typeface="Arial"/>
                <a:sym typeface="Arial"/>
              </a:rPr>
              <a:t>módulo de reservas </a:t>
            </a:r>
            <a:r>
              <a:rPr b="0" i="0" lang="es-MX" sz="1400" u="none" cap="none" strike="noStrike">
                <a:solidFill>
                  <a:srgbClr val="222222"/>
                </a:solidFill>
                <a:latin typeface="Arial"/>
                <a:ea typeface="Arial"/>
                <a:cs typeface="Arial"/>
                <a:sym typeface="Arial"/>
              </a:rPr>
              <a:t>y disponibilidad que permita a los técnicos   indicar los días y horarios en los que está disponible para atender servicios, y a los clientes, solicitar citas dentro de esos espacios. </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400" u="none" cap="none" strike="noStrike">
              <a:solidFill>
                <a:srgbClr val="222222"/>
              </a:solidFill>
              <a:latin typeface="Arial"/>
              <a:ea typeface="Arial"/>
              <a:cs typeface="Arial"/>
              <a:sym typeface="Arial"/>
            </a:endParaRPr>
          </a:p>
          <a:p>
            <a:pPr indent="0" lvl="0" marL="0" marR="0" rtl="0" algn="just">
              <a:lnSpc>
                <a:spcPct val="100000"/>
              </a:lnSpc>
              <a:spcBef>
                <a:spcPts val="0"/>
              </a:spcBef>
              <a:spcAft>
                <a:spcPts val="0"/>
              </a:spcAft>
              <a:buNone/>
            </a:pPr>
            <a:r>
              <a:rPr b="0" i="0" lang="es-MX" sz="1400" u="none" cap="none" strike="noStrike">
                <a:solidFill>
                  <a:srgbClr val="222222"/>
                </a:solidFill>
                <a:latin typeface="Arial"/>
                <a:ea typeface="Arial"/>
                <a:cs typeface="Arial"/>
                <a:sym typeface="Arial"/>
              </a:rPr>
              <a:t>5.</a:t>
            </a:r>
            <a:r>
              <a:rPr b="0" i="0" lang="es-MX" sz="1400" u="none" cap="none" strike="noStrike">
                <a:solidFill>
                  <a:srgbClr val="000000"/>
                </a:solidFill>
                <a:latin typeface="Arial"/>
                <a:ea typeface="Arial"/>
                <a:cs typeface="Arial"/>
                <a:sym typeface="Arial"/>
              </a:rPr>
              <a:t> Diseñar un sistema de registro de equipos a reparar que incluya el tipo de equipo, las fallas reportadas y observaciones relevantes, con el fin de facilitar el diagnóstico y la atención técnica.</a:t>
            </a:r>
            <a:endParaRPr b="0" i="0" sz="1400" u="none" cap="none" strike="noStrike">
              <a:solidFill>
                <a:srgbClr val="222222"/>
              </a:solidFill>
              <a:latin typeface="Arial"/>
              <a:ea typeface="Arial"/>
              <a:cs typeface="Arial"/>
              <a:sym typeface="Arial"/>
            </a:endParaRPr>
          </a:p>
        </p:txBody>
      </p:sp>
      <p:pic>
        <p:nvPicPr>
          <p:cNvPr descr="Qué son las Bases de Datos como Servicio (DBaaS): Ventajas | Data Center  Market" id="115" name="Google Shape;115;p3"/>
          <p:cNvPicPr preferRelativeResize="0"/>
          <p:nvPr/>
        </p:nvPicPr>
        <p:blipFill rotWithShape="1">
          <a:blip r:embed="rId4">
            <a:alphaModFix/>
          </a:blip>
          <a:srcRect b="0" l="0" r="0" t="0"/>
          <a:stretch/>
        </p:blipFill>
        <p:spPr>
          <a:xfrm>
            <a:off x="6579639" y="2164037"/>
            <a:ext cx="4472895" cy="364223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4"/>
          <p:cNvSpPr/>
          <p:nvPr/>
        </p:nvSpPr>
        <p:spPr>
          <a:xfrm>
            <a:off x="132453" y="390906"/>
            <a:ext cx="5014800" cy="11574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4"/>
          <p:cNvSpPr txBox="1"/>
          <p:nvPr/>
        </p:nvSpPr>
        <p:spPr>
          <a:xfrm>
            <a:off x="132453" y="310549"/>
            <a:ext cx="4818900" cy="1157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Alcance del proyecto</a:t>
            </a:r>
            <a:endParaRPr b="0" i="0" sz="1400" u="none" cap="none" strike="noStrike">
              <a:solidFill>
                <a:srgbClr val="000000"/>
              </a:solidFill>
              <a:latin typeface="Arial"/>
              <a:ea typeface="Arial"/>
              <a:cs typeface="Arial"/>
              <a:sym typeface="Arial"/>
            </a:endParaRPr>
          </a:p>
        </p:txBody>
      </p:sp>
      <p:sp>
        <p:nvSpPr>
          <p:cNvPr id="122" name="Google Shape;122;p4"/>
          <p:cNvSpPr txBox="1"/>
          <p:nvPr/>
        </p:nvSpPr>
        <p:spPr>
          <a:xfrm>
            <a:off x="1776046" y="2760785"/>
            <a:ext cx="7086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4"/>
          <p:cNvSpPr txBox="1"/>
          <p:nvPr/>
        </p:nvSpPr>
        <p:spPr>
          <a:xfrm>
            <a:off x="334109" y="2101362"/>
            <a:ext cx="6110653" cy="37856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s-MX" sz="1600" u="none" cap="none" strike="noStrike">
                <a:solidFill>
                  <a:srgbClr val="000000"/>
                </a:solidFill>
                <a:latin typeface="Arial"/>
                <a:ea typeface="Arial"/>
                <a:cs typeface="Arial"/>
                <a:sym typeface="Arial"/>
              </a:rPr>
              <a:t>El presente proyecto contempla el desarrollo del sistema </a:t>
            </a:r>
            <a:r>
              <a:rPr b="1" i="0" lang="es-MX" sz="1600" u="none" cap="none" strike="noStrike">
                <a:solidFill>
                  <a:srgbClr val="000000"/>
                </a:solidFill>
                <a:latin typeface="Arial"/>
                <a:ea typeface="Arial"/>
                <a:cs typeface="Arial"/>
                <a:sym typeface="Arial"/>
              </a:rPr>
              <a:t>AR Asistencia Técnica</a:t>
            </a:r>
            <a:r>
              <a:rPr b="0" i="0" lang="es-MX" sz="1600" u="none" cap="none" strike="noStrike">
                <a:solidFill>
                  <a:srgbClr val="000000"/>
                </a:solidFill>
                <a:latin typeface="Arial"/>
                <a:ea typeface="Arial"/>
                <a:cs typeface="Arial"/>
                <a:sym typeface="Arial"/>
              </a:rPr>
              <a:t>, el cual incluirá módulos de </a:t>
            </a:r>
            <a:r>
              <a:rPr b="1" i="0" lang="es-MX" sz="1600" u="none" cap="none" strike="noStrike">
                <a:solidFill>
                  <a:srgbClr val="000000"/>
                </a:solidFill>
                <a:latin typeface="Arial"/>
                <a:ea typeface="Arial"/>
                <a:cs typeface="Arial"/>
                <a:sym typeface="Arial"/>
              </a:rPr>
              <a:t>autenticación y control de acceso</a:t>
            </a:r>
            <a:r>
              <a:rPr b="0" i="0" lang="es-MX" sz="1600" u="none" cap="none" strike="noStrike">
                <a:solidFill>
                  <a:srgbClr val="000000"/>
                </a:solidFill>
                <a:latin typeface="Arial"/>
                <a:ea typeface="Arial"/>
                <a:cs typeface="Arial"/>
                <a:sym typeface="Arial"/>
              </a:rPr>
              <a:t>, </a:t>
            </a:r>
            <a:r>
              <a:rPr b="1" i="0" lang="es-MX" sz="1600" u="none" cap="none" strike="noStrike">
                <a:solidFill>
                  <a:srgbClr val="000000"/>
                </a:solidFill>
                <a:latin typeface="Arial"/>
                <a:ea typeface="Arial"/>
                <a:cs typeface="Arial"/>
                <a:sym typeface="Arial"/>
              </a:rPr>
              <a:t>registro de usuarios y equipos</a:t>
            </a:r>
            <a:r>
              <a:rPr b="0" i="0" lang="es-MX" sz="1600" u="none" cap="none" strike="noStrike">
                <a:solidFill>
                  <a:srgbClr val="000000"/>
                </a:solidFill>
                <a:latin typeface="Arial"/>
                <a:ea typeface="Arial"/>
                <a:cs typeface="Arial"/>
                <a:sym typeface="Arial"/>
              </a:rPr>
              <a:t>, </a:t>
            </a:r>
            <a:r>
              <a:rPr b="1" i="0" lang="es-MX" sz="1600" u="none" cap="none" strike="noStrike">
                <a:solidFill>
                  <a:srgbClr val="000000"/>
                </a:solidFill>
                <a:latin typeface="Arial"/>
                <a:ea typeface="Arial"/>
                <a:cs typeface="Arial"/>
                <a:sym typeface="Arial"/>
              </a:rPr>
              <a:t>gestión de órdenes de solicitud</a:t>
            </a:r>
            <a:r>
              <a:rPr b="0" i="0" lang="es-MX" sz="1600" u="none" cap="none" strike="noStrike">
                <a:solidFill>
                  <a:srgbClr val="000000"/>
                </a:solidFill>
                <a:latin typeface="Arial"/>
                <a:ea typeface="Arial"/>
                <a:cs typeface="Arial"/>
                <a:sym typeface="Arial"/>
              </a:rPr>
              <a:t>, </a:t>
            </a:r>
            <a:r>
              <a:rPr b="1" i="0" lang="es-MX" sz="1600" u="none" cap="none" strike="noStrike">
                <a:solidFill>
                  <a:srgbClr val="000000"/>
                </a:solidFill>
                <a:latin typeface="Arial"/>
                <a:ea typeface="Arial"/>
                <a:cs typeface="Arial"/>
                <a:sym typeface="Arial"/>
              </a:rPr>
              <a:t>calendario</a:t>
            </a:r>
            <a:r>
              <a:rPr b="0" i="0" lang="es-MX" sz="1600" u="none" cap="none" strike="noStrike">
                <a:solidFill>
                  <a:srgbClr val="000000"/>
                </a:solidFill>
                <a:latin typeface="Arial"/>
                <a:ea typeface="Arial"/>
                <a:cs typeface="Arial"/>
                <a:sym typeface="Arial"/>
              </a:rPr>
              <a:t>, </a:t>
            </a:r>
            <a:r>
              <a:rPr b="1" i="0" lang="es-MX" sz="1600" u="none" cap="none" strike="noStrike">
                <a:solidFill>
                  <a:srgbClr val="000000"/>
                </a:solidFill>
                <a:latin typeface="Arial"/>
                <a:ea typeface="Arial"/>
                <a:cs typeface="Arial"/>
                <a:sym typeface="Arial"/>
              </a:rPr>
              <a:t>edición de perfil</a:t>
            </a:r>
            <a:r>
              <a:rPr b="0" i="0" lang="es-MX" sz="1600" u="none" cap="none" strike="noStrike">
                <a:solidFill>
                  <a:srgbClr val="000000"/>
                </a:solidFill>
                <a:latin typeface="Arial"/>
                <a:ea typeface="Arial"/>
                <a:cs typeface="Arial"/>
                <a:sym typeface="Arial"/>
              </a:rPr>
              <a:t> y </a:t>
            </a:r>
            <a:r>
              <a:rPr b="1" i="0" lang="es-MX" sz="1600" u="none" cap="none" strike="noStrike">
                <a:solidFill>
                  <a:srgbClr val="000000"/>
                </a:solidFill>
                <a:latin typeface="Arial"/>
                <a:ea typeface="Arial"/>
                <a:cs typeface="Arial"/>
                <a:sym typeface="Arial"/>
              </a:rPr>
              <a:t>notificaciones</a:t>
            </a:r>
            <a:r>
              <a:rPr b="0" i="0" lang="es-MX" sz="1600" u="none" cap="none" strike="noStrike">
                <a:solidFill>
                  <a:srgbClr val="000000"/>
                </a:solidFill>
                <a:latin typeface="Arial"/>
                <a:ea typeface="Arial"/>
                <a:cs typeface="Arial"/>
                <a:sym typeface="Arial"/>
              </a:rPr>
              <a:t>. El sistema permitirá organizar y centralizar la información relacionada con los servicios técnicos, facilitando el control y seguimiento de las órdenes de trabajo.</a:t>
            </a:r>
            <a:br>
              <a:rPr b="0" i="0" lang="es-MX" sz="1600" u="none" cap="none" strike="noStrike">
                <a:solidFill>
                  <a:srgbClr val="000000"/>
                </a:solidFill>
                <a:latin typeface="Arial"/>
                <a:ea typeface="Arial"/>
                <a:cs typeface="Arial"/>
                <a:sym typeface="Arial"/>
              </a:rPr>
            </a:br>
            <a:r>
              <a:rPr b="0" i="0" lang="es-MX" sz="1600" u="none" cap="none" strike="noStrike">
                <a:solidFill>
                  <a:srgbClr val="000000"/>
                </a:solidFill>
                <a:latin typeface="Arial"/>
                <a:ea typeface="Arial"/>
                <a:cs typeface="Arial"/>
                <a:sym typeface="Arial"/>
              </a:rPr>
              <a:t>Asimismo, el proyecto tiene como finalidad </a:t>
            </a:r>
            <a:r>
              <a:rPr b="1" i="0" lang="es-MX" sz="1600" u="none" cap="none" strike="noStrike">
                <a:solidFill>
                  <a:srgbClr val="000000"/>
                </a:solidFill>
                <a:latin typeface="Arial"/>
                <a:ea typeface="Arial"/>
                <a:cs typeface="Arial"/>
                <a:sym typeface="Arial"/>
              </a:rPr>
              <a:t>mejorar la calidad y eficiencia del servicio que ofrece la empresa AR Asistencia Técnica</a:t>
            </a:r>
            <a:r>
              <a:rPr b="0" i="0" lang="es-MX" sz="1600" u="none" cap="none" strike="noStrike">
                <a:solidFill>
                  <a:srgbClr val="000000"/>
                </a:solidFill>
                <a:latin typeface="Arial"/>
                <a:ea typeface="Arial"/>
                <a:cs typeface="Arial"/>
                <a:sym typeface="Arial"/>
              </a:rPr>
              <a:t>, optimizando los procesos internos y contribuyendo a una atención más ágil, ordenada y efectiva hacia los clientes. El sistema estará orientado a una empresa administrada por una sola persona, el Sr. Fabio Rojas, quien podrá gestionar de manera integral las funciones del sistema.</a:t>
            </a:r>
            <a:endParaRPr b="0" i="0" sz="1600" u="none" cap="none" strike="noStrike">
              <a:solidFill>
                <a:srgbClr val="000000"/>
              </a:solidFill>
              <a:latin typeface="Arial"/>
              <a:ea typeface="Arial"/>
              <a:cs typeface="Arial"/>
              <a:sym typeface="Arial"/>
            </a:endParaRPr>
          </a:p>
        </p:txBody>
      </p:sp>
      <p:pic>
        <p:nvPicPr>
          <p:cNvPr id="124" name="Google Shape;124;p4"/>
          <p:cNvPicPr preferRelativeResize="0"/>
          <p:nvPr/>
        </p:nvPicPr>
        <p:blipFill rotWithShape="1">
          <a:blip r:embed="rId4">
            <a:alphaModFix/>
          </a:blip>
          <a:srcRect b="0" l="0" r="0" t="0"/>
          <a:stretch/>
        </p:blipFill>
        <p:spPr>
          <a:xfrm>
            <a:off x="7786703" y="3190851"/>
            <a:ext cx="2994541" cy="1943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5"/>
          <p:cNvSpPr/>
          <p:nvPr/>
        </p:nvSpPr>
        <p:spPr>
          <a:xfrm>
            <a:off x="238450" y="243775"/>
            <a:ext cx="4037700" cy="11574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5"/>
          <p:cNvSpPr txBox="1"/>
          <p:nvPr/>
        </p:nvSpPr>
        <p:spPr>
          <a:xfrm>
            <a:off x="238450" y="243775"/>
            <a:ext cx="4447850" cy="1107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Planteamiento Problema</a:t>
            </a:r>
            <a:endParaRPr b="0" i="0" sz="4400" u="none" cap="none" strike="noStrike">
              <a:solidFill>
                <a:srgbClr val="38AA00"/>
              </a:solidFill>
              <a:latin typeface="Work Sans Light"/>
              <a:ea typeface="Work Sans Light"/>
              <a:cs typeface="Work Sans Light"/>
              <a:sym typeface="Work Sans Light"/>
            </a:endParaRPr>
          </a:p>
        </p:txBody>
      </p:sp>
      <p:sp>
        <p:nvSpPr>
          <p:cNvPr id="131" name="Google Shape;131;p5"/>
          <p:cNvSpPr txBox="1"/>
          <p:nvPr/>
        </p:nvSpPr>
        <p:spPr>
          <a:xfrm>
            <a:off x="392950" y="1754375"/>
            <a:ext cx="48189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s-MX" sz="1800" u="none" cap="none" strike="noStrike">
                <a:solidFill>
                  <a:schemeClr val="dk1"/>
                </a:solidFill>
                <a:latin typeface="Calibri"/>
                <a:ea typeface="Calibri"/>
                <a:cs typeface="Calibri"/>
                <a:sym typeface="Calibri"/>
              </a:rPr>
              <a:t>En el área de instalación y reparación de equipos de mantenimiento industriales en el sector HORECA, es común enfrentar problemas como la mala comunicación con los clientes, la poca organización en la atención y la falta de disponibilidad oportuna para realizar los servicios. Estos inconvenientes generan retrasos, insatisfacción y, en el caso de entornos industriales, incluso pérdidas económicas por paradas de equipos. Ante esta situación, es necesario implementar un servicio más eficiente, que optimice la comunicación con los usuarios y garantice una atención rápida, organizada y de calidad.</a:t>
            </a:r>
            <a:endParaRPr b="0" i="0" sz="1400" u="none" cap="none" strike="noStrike">
              <a:solidFill>
                <a:srgbClr val="000000"/>
              </a:solidFill>
              <a:latin typeface="Arial"/>
              <a:ea typeface="Arial"/>
              <a:cs typeface="Arial"/>
              <a:sym typeface="Arial"/>
            </a:endParaRPr>
          </a:p>
        </p:txBody>
      </p:sp>
      <p:pic>
        <p:nvPicPr>
          <p:cNvPr descr="Eficiencia" id="132" name="Google Shape;132;p5"/>
          <p:cNvPicPr preferRelativeResize="0"/>
          <p:nvPr/>
        </p:nvPicPr>
        <p:blipFill rotWithShape="1">
          <a:blip r:embed="rId4">
            <a:alphaModFix/>
          </a:blip>
          <a:srcRect b="0" l="0" r="0" t="0"/>
          <a:stretch/>
        </p:blipFill>
        <p:spPr>
          <a:xfrm>
            <a:off x="6648016" y="1191843"/>
            <a:ext cx="4556813" cy="2351315"/>
          </a:xfrm>
          <a:prstGeom prst="rect">
            <a:avLst/>
          </a:prstGeom>
          <a:noFill/>
          <a:ln>
            <a:noFill/>
          </a:ln>
        </p:spPr>
      </p:pic>
      <p:sp>
        <p:nvSpPr>
          <p:cNvPr id="133" name="Google Shape;133;p5"/>
          <p:cNvSpPr txBox="1"/>
          <p:nvPr/>
        </p:nvSpPr>
        <p:spPr>
          <a:xfrm>
            <a:off x="6688575" y="4770200"/>
            <a:ext cx="4734900" cy="1563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200"/>
              </a:spcBef>
              <a:spcAft>
                <a:spcPts val="0"/>
              </a:spcAft>
              <a:buClr>
                <a:srgbClr val="000000"/>
              </a:buClr>
              <a:buSzPts val="1600"/>
              <a:buFont typeface="Arial"/>
              <a:buChar char="●"/>
            </a:pPr>
            <a:r>
              <a:rPr b="0" i="0" lang="es-MX" sz="1600" u="none" cap="none" strike="noStrike">
                <a:solidFill>
                  <a:srgbClr val="000000"/>
                </a:solidFill>
                <a:latin typeface="Arial"/>
                <a:ea typeface="Arial"/>
                <a:cs typeface="Arial"/>
                <a:sym typeface="Arial"/>
              </a:rPr>
              <a:t>¿Cómo se puede optimizar la comunicación con los clientes y mejorar la eficiencia en la instalación y reparación de equipos de mantenimiento industriales en el sector HORECA?</a:t>
            </a:r>
            <a:endParaRPr b="0" i="0" sz="1600" u="none" cap="none" strike="noStrike">
              <a:solidFill>
                <a:srgbClr val="000000"/>
              </a:solidFill>
              <a:latin typeface="Arial"/>
              <a:ea typeface="Arial"/>
              <a:cs typeface="Arial"/>
              <a:sym typeface="Arial"/>
            </a:endParaRPr>
          </a:p>
        </p:txBody>
      </p:sp>
      <p:sp>
        <p:nvSpPr>
          <p:cNvPr id="134" name="Google Shape;134;p5"/>
          <p:cNvSpPr/>
          <p:nvPr/>
        </p:nvSpPr>
        <p:spPr>
          <a:xfrm>
            <a:off x="7513490" y="3715121"/>
            <a:ext cx="3085069" cy="105507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200" u="none" cap="none" strike="noStrike">
                <a:solidFill>
                  <a:srgbClr val="38AA00"/>
                </a:solidFill>
                <a:latin typeface="Work Sans Light"/>
                <a:ea typeface="Work Sans Light"/>
                <a:cs typeface="Work Sans Light"/>
                <a:sym typeface="Work Sans Light"/>
              </a:rPr>
              <a:t>Pregunta Problema</a:t>
            </a:r>
            <a:endParaRPr b="0" i="0" sz="16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663ff54d7e_2_0"/>
          <p:cNvSpPr/>
          <p:nvPr/>
        </p:nvSpPr>
        <p:spPr>
          <a:xfrm>
            <a:off x="519420" y="403275"/>
            <a:ext cx="4518572" cy="9024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Justificación </a:t>
            </a:r>
            <a:endParaRPr b="0" i="0" sz="1400" u="none" cap="none" strike="noStrike">
              <a:solidFill>
                <a:schemeClr val="dk1"/>
              </a:solidFill>
              <a:latin typeface="Arial"/>
              <a:ea typeface="Arial"/>
              <a:cs typeface="Arial"/>
              <a:sym typeface="Arial"/>
            </a:endParaRPr>
          </a:p>
        </p:txBody>
      </p:sp>
      <p:sp>
        <p:nvSpPr>
          <p:cNvPr id="141" name="Google Shape;141;g3663ff54d7e_2_0"/>
          <p:cNvSpPr txBox="1"/>
          <p:nvPr/>
        </p:nvSpPr>
        <p:spPr>
          <a:xfrm>
            <a:off x="608050" y="2036375"/>
            <a:ext cx="4814700" cy="3591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Ofrecer servicios de instalación y reparación de equipos  industriales, respondiendo a la creciente demanda de soluciones rápidas y eficientes para el buen funcionamiento de estos sistemas. </a:t>
            </a:r>
            <a:endParaRPr b="0" i="0" sz="2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Mejorar la comunicación entre el prestador de servicios y los clientes, lo cual optimiza el seguimiento de las reparaciones y permite una atención más personalizada y ágil.</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pic>
        <p:nvPicPr>
          <p:cNvPr id="142" name="Google Shape;142;g3663ff54d7e_2_0"/>
          <p:cNvPicPr preferRelativeResize="0"/>
          <p:nvPr/>
        </p:nvPicPr>
        <p:blipFill rotWithShape="1">
          <a:blip r:embed="rId3">
            <a:alphaModFix/>
          </a:blip>
          <a:srcRect b="3170" l="2142" r="42480" t="-3170"/>
          <a:stretch/>
        </p:blipFill>
        <p:spPr>
          <a:xfrm>
            <a:off x="6987700" y="1413075"/>
            <a:ext cx="4306074" cy="3964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p:nvPr/>
        </p:nvSpPr>
        <p:spPr>
          <a:xfrm>
            <a:off x="1137057" y="510675"/>
            <a:ext cx="3674400" cy="9024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Mockups </a:t>
            </a:r>
            <a:endParaRPr b="0" i="0" sz="1400" u="none" cap="none" strike="noStrike">
              <a:solidFill>
                <a:schemeClr val="dk1"/>
              </a:solidFill>
              <a:latin typeface="Arial"/>
              <a:ea typeface="Arial"/>
              <a:cs typeface="Arial"/>
              <a:sym typeface="Arial"/>
            </a:endParaRPr>
          </a:p>
        </p:txBody>
      </p:sp>
      <p:pic>
        <p:nvPicPr>
          <p:cNvPr id="149" name="Google Shape;149;p22"/>
          <p:cNvPicPr preferRelativeResize="0"/>
          <p:nvPr/>
        </p:nvPicPr>
        <p:blipFill rotWithShape="1">
          <a:blip r:embed="rId3">
            <a:alphaModFix/>
          </a:blip>
          <a:srcRect b="0" l="0" r="0" t="0"/>
          <a:stretch/>
        </p:blipFill>
        <p:spPr>
          <a:xfrm>
            <a:off x="499981" y="1582614"/>
            <a:ext cx="5695333" cy="2961873"/>
          </a:xfrm>
          <a:prstGeom prst="rect">
            <a:avLst/>
          </a:prstGeom>
          <a:noFill/>
          <a:ln>
            <a:noFill/>
          </a:ln>
        </p:spPr>
      </p:pic>
      <p:pic>
        <p:nvPicPr>
          <p:cNvPr id="150" name="Google Shape;150;p22"/>
          <p:cNvPicPr preferRelativeResize="0"/>
          <p:nvPr/>
        </p:nvPicPr>
        <p:blipFill rotWithShape="1">
          <a:blip r:embed="rId4">
            <a:alphaModFix/>
          </a:blip>
          <a:srcRect b="0" l="0" r="0" t="0"/>
          <a:stretch/>
        </p:blipFill>
        <p:spPr>
          <a:xfrm>
            <a:off x="6451484" y="1413075"/>
            <a:ext cx="5450158" cy="2961873"/>
          </a:xfrm>
          <a:prstGeom prst="rect">
            <a:avLst/>
          </a:prstGeom>
          <a:noFill/>
          <a:ln>
            <a:noFill/>
          </a:ln>
        </p:spPr>
      </p:pic>
      <p:pic>
        <p:nvPicPr>
          <p:cNvPr id="151" name="Google Shape;151;p22"/>
          <p:cNvPicPr preferRelativeResize="0"/>
          <p:nvPr/>
        </p:nvPicPr>
        <p:blipFill rotWithShape="1">
          <a:blip r:embed="rId5">
            <a:alphaModFix/>
          </a:blip>
          <a:srcRect b="0" l="0" r="0" t="0"/>
          <a:stretch/>
        </p:blipFill>
        <p:spPr>
          <a:xfrm>
            <a:off x="499981" y="4898664"/>
            <a:ext cx="6022499" cy="1824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p:nvPr/>
        </p:nvSpPr>
        <p:spPr>
          <a:xfrm>
            <a:off x="1137057" y="510675"/>
            <a:ext cx="3674400" cy="9024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Mockups </a:t>
            </a:r>
            <a:endParaRPr b="0" i="0" sz="1400" u="none" cap="none" strike="noStrike">
              <a:solidFill>
                <a:schemeClr val="dk1"/>
              </a:solidFill>
              <a:latin typeface="Arial"/>
              <a:ea typeface="Arial"/>
              <a:cs typeface="Arial"/>
              <a:sym typeface="Arial"/>
            </a:endParaRPr>
          </a:p>
        </p:txBody>
      </p:sp>
      <p:pic>
        <p:nvPicPr>
          <p:cNvPr id="158" name="Google Shape;158;p23"/>
          <p:cNvPicPr preferRelativeResize="0"/>
          <p:nvPr/>
        </p:nvPicPr>
        <p:blipFill rotWithShape="1">
          <a:blip r:embed="rId3">
            <a:alphaModFix/>
          </a:blip>
          <a:srcRect b="0" l="0" r="0" t="0"/>
          <a:stretch/>
        </p:blipFill>
        <p:spPr>
          <a:xfrm>
            <a:off x="6897220" y="1214060"/>
            <a:ext cx="4126558" cy="5317650"/>
          </a:xfrm>
          <a:prstGeom prst="rect">
            <a:avLst/>
          </a:prstGeom>
          <a:noFill/>
          <a:ln>
            <a:noFill/>
          </a:ln>
        </p:spPr>
      </p:pic>
      <p:pic>
        <p:nvPicPr>
          <p:cNvPr id="159" name="Google Shape;159;p23"/>
          <p:cNvPicPr preferRelativeResize="0"/>
          <p:nvPr/>
        </p:nvPicPr>
        <p:blipFill rotWithShape="1">
          <a:blip r:embed="rId4">
            <a:alphaModFix/>
          </a:blip>
          <a:srcRect b="0" l="0" r="0" t="0"/>
          <a:stretch/>
        </p:blipFill>
        <p:spPr>
          <a:xfrm>
            <a:off x="345650" y="2004646"/>
            <a:ext cx="6336986" cy="3388170"/>
          </a:xfrm>
          <a:prstGeom prst="rect">
            <a:avLst/>
          </a:prstGeom>
          <a:noFill/>
          <a:ln>
            <a:noFill/>
          </a:ln>
        </p:spPr>
      </p:pic>
      <p:sp>
        <p:nvSpPr>
          <p:cNvPr id="160" name="Google Shape;160;p23"/>
          <p:cNvSpPr txBox="1"/>
          <p:nvPr/>
        </p:nvSpPr>
        <p:spPr>
          <a:xfrm>
            <a:off x="357292" y="6084277"/>
            <a:ext cx="5644662"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Enlace:</a:t>
            </a:r>
            <a:r>
              <a:rPr b="0" i="0" lang="es-MX" sz="1400" u="sng" cap="none" strike="noStrike">
                <a:solidFill>
                  <a:srgbClr val="1155CC"/>
                </a:solidFill>
                <a:latin typeface="Arial"/>
                <a:ea typeface="Arial"/>
                <a:cs typeface="Arial"/>
                <a:sym typeface="Arial"/>
                <a:hlinkClick r:id="rId5">
                  <a:extLst>
                    <a:ext uri="{A12FA001-AC4F-418D-AE19-62706E023703}">
                      <ahyp:hlinkClr val="tx"/>
                    </a:ext>
                  </a:extLst>
                </a:hlinkClick>
              </a:rPr>
              <a:t>https://www.figma.com/make/YZurSk2ZZmKrpz7CXOCBxo/Prototipo-Interactivo-SERVIAT?t=i8akzrdkZrTiMbUy-20&amp;fullscreen=1</a:t>
            </a:r>
            <a:r>
              <a:rPr b="0" i="0" lang="es-MX"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3"/>
          <p:cNvSpPr/>
          <p:nvPr/>
        </p:nvSpPr>
        <p:spPr>
          <a:xfrm>
            <a:off x="0" y="-184666"/>
            <a:ext cx="12192000" cy="36933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p:nvPr/>
        </p:nvSpPr>
        <p:spPr>
          <a:xfrm>
            <a:off x="0" y="0"/>
            <a:ext cx="7552784" cy="57267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Modelo Entidad Relación</a:t>
            </a:r>
            <a:endParaRPr b="0" i="0" sz="1400" u="none" cap="none" strike="noStrike">
              <a:solidFill>
                <a:schemeClr val="dk1"/>
              </a:solidFill>
              <a:latin typeface="Arial"/>
              <a:ea typeface="Arial"/>
              <a:cs typeface="Arial"/>
              <a:sym typeface="Arial"/>
            </a:endParaRPr>
          </a:p>
        </p:txBody>
      </p:sp>
      <p:pic>
        <p:nvPicPr>
          <p:cNvPr id="168" name="Google Shape;168;p24"/>
          <p:cNvPicPr preferRelativeResize="0"/>
          <p:nvPr/>
        </p:nvPicPr>
        <p:blipFill rotWithShape="1">
          <a:blip r:embed="rId3">
            <a:alphaModFix/>
          </a:blip>
          <a:srcRect b="0" l="0" r="0" t="0"/>
          <a:stretch/>
        </p:blipFill>
        <p:spPr>
          <a:xfrm>
            <a:off x="1077619" y="654732"/>
            <a:ext cx="9543489" cy="62032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p:nvPr/>
        </p:nvSpPr>
        <p:spPr>
          <a:xfrm>
            <a:off x="169716" y="65775"/>
            <a:ext cx="5617500" cy="7662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Modelo Relacional </a:t>
            </a:r>
            <a:endParaRPr b="0" i="0" sz="1400" u="none" cap="none" strike="noStrike">
              <a:solidFill>
                <a:schemeClr val="dk1"/>
              </a:solidFill>
              <a:latin typeface="Arial"/>
              <a:ea typeface="Arial"/>
              <a:cs typeface="Arial"/>
              <a:sym typeface="Arial"/>
            </a:endParaRPr>
          </a:p>
        </p:txBody>
      </p:sp>
      <p:pic>
        <p:nvPicPr>
          <p:cNvPr id="175" name="Google Shape;175;p25"/>
          <p:cNvPicPr preferRelativeResize="0"/>
          <p:nvPr/>
        </p:nvPicPr>
        <p:blipFill rotWithShape="1">
          <a:blip r:embed="rId3">
            <a:alphaModFix/>
          </a:blip>
          <a:srcRect b="0" l="0" r="0" t="0"/>
          <a:stretch/>
        </p:blipFill>
        <p:spPr>
          <a:xfrm>
            <a:off x="513850" y="873830"/>
            <a:ext cx="10240923" cy="5743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p:nvPr/>
        </p:nvSpPr>
        <p:spPr>
          <a:xfrm>
            <a:off x="243116" y="86750"/>
            <a:ext cx="5617612" cy="76610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Modelo Despliegue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38AA00"/>
              </a:buClr>
              <a:buSzPts val="4400"/>
              <a:buFont typeface="Work Sans Light"/>
              <a:buNone/>
            </a:pPr>
            <a:r>
              <a:t/>
            </a:r>
            <a:endParaRPr b="0" i="0" sz="1400" u="none" cap="none" strike="noStrike">
              <a:solidFill>
                <a:schemeClr val="dk1"/>
              </a:solidFill>
              <a:latin typeface="Arial"/>
              <a:ea typeface="Arial"/>
              <a:cs typeface="Arial"/>
              <a:sym typeface="Arial"/>
            </a:endParaRPr>
          </a:p>
        </p:txBody>
      </p:sp>
      <p:pic>
        <p:nvPicPr>
          <p:cNvPr id="182" name="Google Shape;182;p26"/>
          <p:cNvPicPr preferRelativeResize="0"/>
          <p:nvPr/>
        </p:nvPicPr>
        <p:blipFill rotWithShape="1">
          <a:blip r:embed="rId3">
            <a:alphaModFix/>
          </a:blip>
          <a:srcRect b="0" l="0" r="0" t="0"/>
          <a:stretch/>
        </p:blipFill>
        <p:spPr>
          <a:xfrm>
            <a:off x="21332" y="1481073"/>
            <a:ext cx="12170668" cy="455924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p:nvPr/>
        </p:nvSpPr>
        <p:spPr>
          <a:xfrm>
            <a:off x="243116" y="0"/>
            <a:ext cx="5867538" cy="641838"/>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Diagrama de Clases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38AA00"/>
              </a:buClr>
              <a:buSzPts val="4400"/>
              <a:buFont typeface="Work Sans Light"/>
              <a:buNone/>
            </a:pPr>
            <a:r>
              <a:t/>
            </a:r>
            <a:endParaRPr b="0" i="0" sz="1400" u="none" cap="none" strike="noStrike">
              <a:solidFill>
                <a:schemeClr val="dk1"/>
              </a:solidFill>
              <a:latin typeface="Arial"/>
              <a:ea typeface="Arial"/>
              <a:cs typeface="Arial"/>
              <a:sym typeface="Arial"/>
            </a:endParaRPr>
          </a:p>
        </p:txBody>
      </p:sp>
      <p:pic>
        <p:nvPicPr>
          <p:cNvPr id="189" name="Google Shape;189;p33"/>
          <p:cNvPicPr preferRelativeResize="0"/>
          <p:nvPr/>
        </p:nvPicPr>
        <p:blipFill rotWithShape="1">
          <a:blip r:embed="rId3">
            <a:alphaModFix/>
          </a:blip>
          <a:srcRect b="0" l="0" r="0" t="0"/>
          <a:stretch/>
        </p:blipFill>
        <p:spPr>
          <a:xfrm>
            <a:off x="1855176" y="641837"/>
            <a:ext cx="8598877" cy="6226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p:nvPr/>
        </p:nvSpPr>
        <p:spPr>
          <a:xfrm>
            <a:off x="0" y="79130"/>
            <a:ext cx="6192853" cy="76610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Diccionario De Datos</a:t>
            </a:r>
            <a:endParaRPr b="0" i="0" sz="1400" u="none" cap="none" strike="noStrike">
              <a:solidFill>
                <a:schemeClr val="dk1"/>
              </a:solidFill>
              <a:latin typeface="Arial"/>
              <a:ea typeface="Arial"/>
              <a:cs typeface="Arial"/>
              <a:sym typeface="Arial"/>
            </a:endParaRPr>
          </a:p>
        </p:txBody>
      </p:sp>
      <p:pic>
        <p:nvPicPr>
          <p:cNvPr id="196" name="Google Shape;196;p27"/>
          <p:cNvPicPr preferRelativeResize="0"/>
          <p:nvPr/>
        </p:nvPicPr>
        <p:blipFill rotWithShape="1">
          <a:blip r:embed="rId3">
            <a:alphaModFix/>
          </a:blip>
          <a:srcRect b="0" l="0" r="0" t="0"/>
          <a:stretch/>
        </p:blipFill>
        <p:spPr>
          <a:xfrm>
            <a:off x="160091" y="985672"/>
            <a:ext cx="5277587" cy="2372056"/>
          </a:xfrm>
          <a:prstGeom prst="rect">
            <a:avLst/>
          </a:prstGeom>
          <a:noFill/>
          <a:ln>
            <a:noFill/>
          </a:ln>
        </p:spPr>
      </p:pic>
      <p:pic>
        <p:nvPicPr>
          <p:cNvPr id="197" name="Google Shape;197;p27"/>
          <p:cNvPicPr preferRelativeResize="0"/>
          <p:nvPr/>
        </p:nvPicPr>
        <p:blipFill rotWithShape="1">
          <a:blip r:embed="rId4">
            <a:alphaModFix/>
          </a:blip>
          <a:srcRect b="0" l="0" r="0" t="0"/>
          <a:stretch/>
        </p:blipFill>
        <p:spPr>
          <a:xfrm>
            <a:off x="160091" y="3571751"/>
            <a:ext cx="5296639" cy="1771897"/>
          </a:xfrm>
          <a:prstGeom prst="rect">
            <a:avLst/>
          </a:prstGeom>
          <a:noFill/>
          <a:ln>
            <a:noFill/>
          </a:ln>
        </p:spPr>
      </p:pic>
      <p:pic>
        <p:nvPicPr>
          <p:cNvPr id="198" name="Google Shape;198;p27"/>
          <p:cNvPicPr preferRelativeResize="0"/>
          <p:nvPr/>
        </p:nvPicPr>
        <p:blipFill rotWithShape="1">
          <a:blip r:embed="rId5">
            <a:alphaModFix/>
          </a:blip>
          <a:srcRect b="0" l="0" r="0" t="0"/>
          <a:stretch/>
        </p:blipFill>
        <p:spPr>
          <a:xfrm>
            <a:off x="169617" y="5679377"/>
            <a:ext cx="5287113" cy="809738"/>
          </a:xfrm>
          <a:prstGeom prst="rect">
            <a:avLst/>
          </a:prstGeom>
          <a:noFill/>
          <a:ln>
            <a:noFill/>
          </a:ln>
        </p:spPr>
      </p:pic>
      <p:pic>
        <p:nvPicPr>
          <p:cNvPr id="199" name="Google Shape;199;p27"/>
          <p:cNvPicPr preferRelativeResize="0"/>
          <p:nvPr/>
        </p:nvPicPr>
        <p:blipFill rotWithShape="1">
          <a:blip r:embed="rId6">
            <a:alphaModFix/>
          </a:blip>
          <a:srcRect b="0" l="0" r="0" t="0"/>
          <a:stretch/>
        </p:blipFill>
        <p:spPr>
          <a:xfrm>
            <a:off x="5991594" y="985672"/>
            <a:ext cx="5258534" cy="2124371"/>
          </a:xfrm>
          <a:prstGeom prst="rect">
            <a:avLst/>
          </a:prstGeom>
          <a:noFill/>
          <a:ln>
            <a:noFill/>
          </a:ln>
        </p:spPr>
      </p:pic>
      <p:pic>
        <p:nvPicPr>
          <p:cNvPr id="200" name="Google Shape;200;p27"/>
          <p:cNvPicPr preferRelativeResize="0"/>
          <p:nvPr/>
        </p:nvPicPr>
        <p:blipFill rotWithShape="1">
          <a:blip r:embed="rId7">
            <a:alphaModFix/>
          </a:blip>
          <a:srcRect b="0" l="0" r="0" t="0"/>
          <a:stretch/>
        </p:blipFill>
        <p:spPr>
          <a:xfrm>
            <a:off x="5893410" y="3571751"/>
            <a:ext cx="5277587" cy="17814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8"/>
          <p:cNvPicPr preferRelativeResize="0"/>
          <p:nvPr/>
        </p:nvPicPr>
        <p:blipFill rotWithShape="1">
          <a:blip r:embed="rId3">
            <a:alphaModFix/>
          </a:blip>
          <a:srcRect b="0" l="0" r="0" t="0"/>
          <a:stretch/>
        </p:blipFill>
        <p:spPr>
          <a:xfrm>
            <a:off x="165588" y="137270"/>
            <a:ext cx="5249008" cy="1571844"/>
          </a:xfrm>
          <a:prstGeom prst="rect">
            <a:avLst/>
          </a:prstGeom>
          <a:noFill/>
          <a:ln>
            <a:noFill/>
          </a:ln>
        </p:spPr>
      </p:pic>
      <p:pic>
        <p:nvPicPr>
          <p:cNvPr id="206" name="Google Shape;206;p28"/>
          <p:cNvPicPr preferRelativeResize="0"/>
          <p:nvPr/>
        </p:nvPicPr>
        <p:blipFill rotWithShape="1">
          <a:blip r:embed="rId4">
            <a:alphaModFix/>
          </a:blip>
          <a:srcRect b="0" l="0" r="0" t="0"/>
          <a:stretch/>
        </p:blipFill>
        <p:spPr>
          <a:xfrm>
            <a:off x="165588" y="2016294"/>
            <a:ext cx="5325218" cy="1066949"/>
          </a:xfrm>
          <a:prstGeom prst="rect">
            <a:avLst/>
          </a:prstGeom>
          <a:noFill/>
          <a:ln>
            <a:noFill/>
          </a:ln>
        </p:spPr>
      </p:pic>
      <p:pic>
        <p:nvPicPr>
          <p:cNvPr id="207" name="Google Shape;207;p28"/>
          <p:cNvPicPr preferRelativeResize="0"/>
          <p:nvPr/>
        </p:nvPicPr>
        <p:blipFill rotWithShape="1">
          <a:blip r:embed="rId5">
            <a:alphaModFix/>
          </a:blip>
          <a:srcRect b="0" l="0" r="0" t="0"/>
          <a:stretch/>
        </p:blipFill>
        <p:spPr>
          <a:xfrm>
            <a:off x="213219" y="3390423"/>
            <a:ext cx="5277587" cy="1362265"/>
          </a:xfrm>
          <a:prstGeom prst="rect">
            <a:avLst/>
          </a:prstGeom>
          <a:noFill/>
          <a:ln>
            <a:noFill/>
          </a:ln>
        </p:spPr>
      </p:pic>
      <p:pic>
        <p:nvPicPr>
          <p:cNvPr id="208" name="Google Shape;208;p28"/>
          <p:cNvPicPr preferRelativeResize="0"/>
          <p:nvPr/>
        </p:nvPicPr>
        <p:blipFill rotWithShape="1">
          <a:blip r:embed="rId6">
            <a:alphaModFix/>
          </a:blip>
          <a:srcRect b="0" l="0" r="0" t="0"/>
          <a:stretch/>
        </p:blipFill>
        <p:spPr>
          <a:xfrm>
            <a:off x="6500079" y="1312231"/>
            <a:ext cx="5258534" cy="1981477"/>
          </a:xfrm>
          <a:prstGeom prst="rect">
            <a:avLst/>
          </a:prstGeom>
          <a:noFill/>
          <a:ln>
            <a:noFill/>
          </a:ln>
        </p:spPr>
      </p:pic>
      <p:pic>
        <p:nvPicPr>
          <p:cNvPr id="209" name="Google Shape;209;p28"/>
          <p:cNvPicPr preferRelativeResize="0"/>
          <p:nvPr/>
        </p:nvPicPr>
        <p:blipFill rotWithShape="1">
          <a:blip r:embed="rId7">
            <a:alphaModFix/>
          </a:blip>
          <a:srcRect b="0" l="0" r="0" t="0"/>
          <a:stretch/>
        </p:blipFill>
        <p:spPr>
          <a:xfrm>
            <a:off x="6471500" y="3542844"/>
            <a:ext cx="5287113" cy="12098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p:nvPr/>
        </p:nvSpPr>
        <p:spPr>
          <a:xfrm>
            <a:off x="0" y="109653"/>
            <a:ext cx="6192853" cy="51460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Casos de uso</a:t>
            </a:r>
            <a:endParaRPr b="0" i="0" sz="1400" u="none" cap="none" strike="noStrike">
              <a:solidFill>
                <a:schemeClr val="dk1"/>
              </a:solidFill>
              <a:latin typeface="Arial"/>
              <a:ea typeface="Arial"/>
              <a:cs typeface="Arial"/>
              <a:sym typeface="Arial"/>
            </a:endParaRPr>
          </a:p>
        </p:txBody>
      </p:sp>
      <p:pic>
        <p:nvPicPr>
          <p:cNvPr id="216" name="Google Shape;216;p29"/>
          <p:cNvPicPr preferRelativeResize="0"/>
          <p:nvPr/>
        </p:nvPicPr>
        <p:blipFill rotWithShape="1">
          <a:blip r:embed="rId3">
            <a:alphaModFix/>
          </a:blip>
          <a:srcRect b="-1" l="0" r="0" t="3215"/>
          <a:stretch/>
        </p:blipFill>
        <p:spPr>
          <a:xfrm>
            <a:off x="507100" y="1222131"/>
            <a:ext cx="4143953" cy="2000760"/>
          </a:xfrm>
          <a:prstGeom prst="rect">
            <a:avLst/>
          </a:prstGeom>
          <a:noFill/>
          <a:ln>
            <a:noFill/>
          </a:ln>
        </p:spPr>
      </p:pic>
      <p:pic>
        <p:nvPicPr>
          <p:cNvPr id="217" name="Google Shape;217;p29"/>
          <p:cNvPicPr preferRelativeResize="0"/>
          <p:nvPr/>
        </p:nvPicPr>
        <p:blipFill rotWithShape="1">
          <a:blip r:embed="rId4">
            <a:alphaModFix/>
          </a:blip>
          <a:srcRect b="0" l="0" r="0" t="0"/>
          <a:stretch/>
        </p:blipFill>
        <p:spPr>
          <a:xfrm>
            <a:off x="6629482" y="562510"/>
            <a:ext cx="4067743" cy="2915057"/>
          </a:xfrm>
          <a:prstGeom prst="rect">
            <a:avLst/>
          </a:prstGeom>
          <a:noFill/>
          <a:ln>
            <a:noFill/>
          </a:ln>
        </p:spPr>
      </p:pic>
      <p:pic>
        <p:nvPicPr>
          <p:cNvPr id="218" name="Google Shape;218;p29"/>
          <p:cNvPicPr preferRelativeResize="0"/>
          <p:nvPr/>
        </p:nvPicPr>
        <p:blipFill rotWithShape="1">
          <a:blip r:embed="rId5">
            <a:alphaModFix/>
          </a:blip>
          <a:srcRect b="0" l="0" r="0" t="0"/>
          <a:stretch/>
        </p:blipFill>
        <p:spPr>
          <a:xfrm>
            <a:off x="2710921" y="3239975"/>
            <a:ext cx="4428433" cy="354419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p:nvPr/>
        </p:nvSpPr>
        <p:spPr>
          <a:xfrm>
            <a:off x="0" y="79130"/>
            <a:ext cx="6192853" cy="76610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Casos de uso</a:t>
            </a:r>
            <a:endParaRPr b="0" i="0" sz="1400" u="none" cap="none" strike="noStrike">
              <a:solidFill>
                <a:schemeClr val="dk1"/>
              </a:solidFill>
              <a:latin typeface="Arial"/>
              <a:ea typeface="Arial"/>
              <a:cs typeface="Arial"/>
              <a:sym typeface="Arial"/>
            </a:endParaRPr>
          </a:p>
        </p:txBody>
      </p:sp>
      <p:pic>
        <p:nvPicPr>
          <p:cNvPr id="225" name="Google Shape;225;p30"/>
          <p:cNvPicPr preferRelativeResize="0"/>
          <p:nvPr/>
        </p:nvPicPr>
        <p:blipFill rotWithShape="1">
          <a:blip r:embed="rId3">
            <a:alphaModFix/>
          </a:blip>
          <a:srcRect b="4249" l="2253" r="0" t="5100"/>
          <a:stretch/>
        </p:blipFill>
        <p:spPr>
          <a:xfrm>
            <a:off x="272561" y="1327639"/>
            <a:ext cx="5284084" cy="4220308"/>
          </a:xfrm>
          <a:prstGeom prst="rect">
            <a:avLst/>
          </a:prstGeom>
          <a:noFill/>
          <a:ln>
            <a:noFill/>
          </a:ln>
        </p:spPr>
      </p:pic>
      <p:pic>
        <p:nvPicPr>
          <p:cNvPr id="226" name="Google Shape;226;p30"/>
          <p:cNvPicPr preferRelativeResize="0"/>
          <p:nvPr/>
        </p:nvPicPr>
        <p:blipFill rotWithShape="1">
          <a:blip r:embed="rId4">
            <a:alphaModFix/>
          </a:blip>
          <a:srcRect b="0" l="0" r="0" t="0"/>
          <a:stretch/>
        </p:blipFill>
        <p:spPr>
          <a:xfrm>
            <a:off x="6192853" y="1099039"/>
            <a:ext cx="5036597" cy="49490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p:nvPr/>
        </p:nvSpPr>
        <p:spPr>
          <a:xfrm>
            <a:off x="0" y="79130"/>
            <a:ext cx="6192853" cy="76610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Casos de uso</a:t>
            </a:r>
            <a:endParaRPr b="0" i="0" sz="1400" u="none" cap="none" strike="noStrike">
              <a:solidFill>
                <a:schemeClr val="dk1"/>
              </a:solidFill>
              <a:latin typeface="Arial"/>
              <a:ea typeface="Arial"/>
              <a:cs typeface="Arial"/>
              <a:sym typeface="Arial"/>
            </a:endParaRPr>
          </a:p>
        </p:txBody>
      </p:sp>
      <p:pic>
        <p:nvPicPr>
          <p:cNvPr id="233" name="Google Shape;233;p31"/>
          <p:cNvPicPr preferRelativeResize="0"/>
          <p:nvPr/>
        </p:nvPicPr>
        <p:blipFill rotWithShape="1">
          <a:blip r:embed="rId3">
            <a:alphaModFix/>
          </a:blip>
          <a:srcRect b="0" l="0" r="0" t="0"/>
          <a:stretch/>
        </p:blipFill>
        <p:spPr>
          <a:xfrm>
            <a:off x="545357" y="1441757"/>
            <a:ext cx="4760088" cy="4407268"/>
          </a:xfrm>
          <a:prstGeom prst="rect">
            <a:avLst/>
          </a:prstGeom>
          <a:noFill/>
          <a:ln>
            <a:noFill/>
          </a:ln>
        </p:spPr>
      </p:pic>
      <p:pic>
        <p:nvPicPr>
          <p:cNvPr id="234" name="Google Shape;234;p31"/>
          <p:cNvPicPr preferRelativeResize="0"/>
          <p:nvPr/>
        </p:nvPicPr>
        <p:blipFill rotWithShape="1">
          <a:blip r:embed="rId4">
            <a:alphaModFix/>
          </a:blip>
          <a:srcRect b="0" l="0" r="0" t="0"/>
          <a:stretch/>
        </p:blipFill>
        <p:spPr>
          <a:xfrm>
            <a:off x="6795218" y="1441757"/>
            <a:ext cx="5124220" cy="486410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p:nvPr/>
        </p:nvSpPr>
        <p:spPr>
          <a:xfrm>
            <a:off x="0" y="79130"/>
            <a:ext cx="6192853" cy="47478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Casos de uso</a:t>
            </a:r>
            <a:endParaRPr b="0" i="0" sz="1400" u="none" cap="none" strike="noStrike">
              <a:solidFill>
                <a:schemeClr val="dk1"/>
              </a:solidFill>
              <a:latin typeface="Arial"/>
              <a:ea typeface="Arial"/>
              <a:cs typeface="Arial"/>
              <a:sym typeface="Arial"/>
            </a:endParaRPr>
          </a:p>
        </p:txBody>
      </p:sp>
      <p:pic>
        <p:nvPicPr>
          <p:cNvPr id="241" name="Google Shape;241;p32"/>
          <p:cNvPicPr preferRelativeResize="0"/>
          <p:nvPr/>
        </p:nvPicPr>
        <p:blipFill rotWithShape="1">
          <a:blip r:embed="rId3">
            <a:alphaModFix/>
          </a:blip>
          <a:srcRect b="0" l="0" r="0" t="0"/>
          <a:stretch/>
        </p:blipFill>
        <p:spPr>
          <a:xfrm>
            <a:off x="5832450" y="877790"/>
            <a:ext cx="5145992" cy="2920487"/>
          </a:xfrm>
          <a:prstGeom prst="rect">
            <a:avLst/>
          </a:prstGeom>
          <a:noFill/>
          <a:ln>
            <a:noFill/>
          </a:ln>
        </p:spPr>
      </p:pic>
      <p:pic>
        <p:nvPicPr>
          <p:cNvPr id="242" name="Google Shape;242;p32"/>
          <p:cNvPicPr preferRelativeResize="0"/>
          <p:nvPr/>
        </p:nvPicPr>
        <p:blipFill rotWithShape="1">
          <a:blip r:embed="rId4">
            <a:alphaModFix/>
          </a:blip>
          <a:srcRect b="5190" l="0" r="0" t="2926"/>
          <a:stretch/>
        </p:blipFill>
        <p:spPr>
          <a:xfrm>
            <a:off x="4097567" y="3994161"/>
            <a:ext cx="4190571" cy="2863839"/>
          </a:xfrm>
          <a:prstGeom prst="rect">
            <a:avLst/>
          </a:prstGeom>
          <a:noFill/>
          <a:ln>
            <a:noFill/>
          </a:ln>
        </p:spPr>
      </p:pic>
      <p:pic>
        <p:nvPicPr>
          <p:cNvPr id="243" name="Google Shape;243;p32"/>
          <p:cNvPicPr preferRelativeResize="0"/>
          <p:nvPr/>
        </p:nvPicPr>
        <p:blipFill rotWithShape="1">
          <a:blip r:embed="rId5">
            <a:alphaModFix/>
          </a:blip>
          <a:srcRect b="0" l="0" r="0" t="0"/>
          <a:stretch/>
        </p:blipFill>
        <p:spPr>
          <a:xfrm>
            <a:off x="571501" y="860383"/>
            <a:ext cx="3938954" cy="293789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p:nvPr/>
        </p:nvSpPr>
        <p:spPr>
          <a:xfrm>
            <a:off x="0" y="0"/>
            <a:ext cx="5292296" cy="58908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Normalización  </a:t>
            </a:r>
            <a:endParaRPr b="0" i="0" sz="1400" u="none" cap="none" strike="noStrike">
              <a:solidFill>
                <a:schemeClr val="dk1"/>
              </a:solidFill>
              <a:latin typeface="Arial"/>
              <a:ea typeface="Arial"/>
              <a:cs typeface="Arial"/>
              <a:sym typeface="Arial"/>
            </a:endParaRPr>
          </a:p>
        </p:txBody>
      </p:sp>
      <p:sp>
        <p:nvSpPr>
          <p:cNvPr id="250" name="Google Shape;250;p34"/>
          <p:cNvSpPr txBox="1"/>
          <p:nvPr/>
        </p:nvSpPr>
        <p:spPr>
          <a:xfrm>
            <a:off x="338762" y="1091620"/>
            <a:ext cx="5498296" cy="34224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s-MX" sz="1600" u="none" cap="none" strike="noStrike">
                <a:solidFill>
                  <a:srgbClr val="385623"/>
                </a:solidFill>
                <a:latin typeface="Arial"/>
                <a:ea typeface="Arial"/>
                <a:cs typeface="Arial"/>
                <a:sym typeface="Arial"/>
              </a:rPr>
              <a:t>1FN – Primera Forma Normal </a:t>
            </a:r>
            <a:endParaRPr b="0" i="0" sz="16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MX" sz="1600" u="none" cap="none" strike="noStrike">
                <a:solidFill>
                  <a:srgbClr val="000000"/>
                </a:solidFill>
                <a:latin typeface="Arial"/>
                <a:ea typeface="Arial"/>
                <a:cs typeface="Arial"/>
                <a:sym typeface="Arial"/>
              </a:rPr>
              <a:t>Una tabla está en Primera Forma Normal si todos sus atributos contienen valores atómicos, no repetidos y no multivaluados. Un dato atómico es un dato que no se puede dividir más.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MX"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MX" sz="1600" u="none" cap="none" strike="noStrike">
                <a:solidFill>
                  <a:srgbClr val="000000"/>
                </a:solidFill>
                <a:latin typeface="Arial"/>
                <a:ea typeface="Arial"/>
                <a:cs typeface="Arial"/>
                <a:sym typeface="Arial"/>
              </a:rPr>
              <a:t>En 1FN la tabla NO puede tener listas, ni campos combinados, ni valores repetidos en un mismo atributo.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500"/>
              <a:buFont typeface="Arial"/>
              <a:buNone/>
            </a:pPr>
            <a:r>
              <a:t/>
            </a:r>
            <a:endParaRPr b="0" i="0" sz="1600" u="none" cap="none" strike="noStrike">
              <a:solidFill>
                <a:schemeClr val="dk1"/>
              </a:solidFill>
              <a:latin typeface="Arial"/>
              <a:ea typeface="Arial"/>
              <a:cs typeface="Arial"/>
              <a:sym typeface="Arial"/>
            </a:endParaRPr>
          </a:p>
        </p:txBody>
      </p:sp>
      <p:sp>
        <p:nvSpPr>
          <p:cNvPr id="251" name="Google Shape;251;p34"/>
          <p:cNvSpPr txBox="1"/>
          <p:nvPr/>
        </p:nvSpPr>
        <p:spPr>
          <a:xfrm>
            <a:off x="6078072" y="1439724"/>
            <a:ext cx="5422200" cy="4401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385623"/>
                </a:solidFill>
                <a:latin typeface="Arial"/>
                <a:ea typeface="Arial"/>
                <a:cs typeface="Arial"/>
                <a:sym typeface="Arial"/>
              </a:rPr>
              <a:t>2FN – Segunda Forma Normal </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Una tabla está en Segunda Forma Normal si está en 1FN y no tiene dependencias parciales de atributos no clave respecto a una clave primaria compuesta.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385623"/>
                </a:solidFill>
                <a:latin typeface="Arial"/>
                <a:ea typeface="Arial"/>
                <a:cs typeface="Arial"/>
                <a:sym typeface="Arial"/>
              </a:rPr>
              <a:t>¿Qué es “dependencia parcial”? (2FN)</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Existe cuando: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La clave primaria tiene dos campos (PK compuesta)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Un atributo depende solo de una parte de esa clave.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385623"/>
                </a:solidFill>
                <a:latin typeface="Arial"/>
                <a:ea typeface="Arial"/>
                <a:cs typeface="Arial"/>
                <a:sym typeface="Arial"/>
              </a:rPr>
              <a:t> </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385623"/>
                </a:solidFill>
                <a:latin typeface="Arial"/>
                <a:ea typeface="Arial"/>
                <a:cs typeface="Arial"/>
                <a:sym typeface="Arial"/>
              </a:rPr>
              <a:t>Ejemplo:</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PK = (ID_producto, ID_factura)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Y un campo: Nombre_producto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El producto depende de ID_producto solamente, no de la factura.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Eso es dependencia parcial → rompe 2FN.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Qué es la integración de bases de datos? Descripción general y beneficios" id="252" name="Google Shape;252;p34"/>
          <p:cNvPicPr preferRelativeResize="0"/>
          <p:nvPr/>
        </p:nvPicPr>
        <p:blipFill rotWithShape="1">
          <a:blip r:embed="rId3">
            <a:alphaModFix/>
          </a:blip>
          <a:srcRect b="10177" l="5364" r="4727" t="13167"/>
          <a:stretch/>
        </p:blipFill>
        <p:spPr>
          <a:xfrm>
            <a:off x="1415562" y="3905276"/>
            <a:ext cx="3165230" cy="28472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p:nvPr/>
        </p:nvSpPr>
        <p:spPr>
          <a:xfrm>
            <a:off x="176520" y="95545"/>
            <a:ext cx="4360312" cy="50233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Normalización  </a:t>
            </a:r>
            <a:endParaRPr b="0" i="0" sz="1400" u="none" cap="none" strike="noStrike">
              <a:solidFill>
                <a:schemeClr val="dk1"/>
              </a:solidFill>
              <a:latin typeface="Arial"/>
              <a:ea typeface="Arial"/>
              <a:cs typeface="Arial"/>
              <a:sym typeface="Arial"/>
            </a:endParaRPr>
          </a:p>
        </p:txBody>
      </p:sp>
      <p:sp>
        <p:nvSpPr>
          <p:cNvPr id="259" name="Google Shape;259;p35"/>
          <p:cNvSpPr txBox="1"/>
          <p:nvPr/>
        </p:nvSpPr>
        <p:spPr>
          <a:xfrm>
            <a:off x="268424" y="1285051"/>
            <a:ext cx="5956530" cy="594621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385623"/>
                </a:solidFill>
                <a:latin typeface="Arial"/>
                <a:ea typeface="Arial"/>
                <a:cs typeface="Arial"/>
                <a:sym typeface="Arial"/>
              </a:rPr>
              <a:t>3FN – Tercera Forma Normal </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Una tabla está en Tercera Forma Normal si está en 2FN y no existe dependencia transitiva entre sus atributos no clave.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En 3FN, </a:t>
            </a:r>
            <a:r>
              <a:rPr b="1" i="0" lang="es-MX" sz="1400" u="none" cap="none" strike="noStrike">
                <a:solidFill>
                  <a:srgbClr val="000000"/>
                </a:solidFill>
                <a:latin typeface="Arial"/>
                <a:ea typeface="Arial"/>
                <a:cs typeface="Arial"/>
                <a:sym typeface="Arial"/>
              </a:rPr>
              <a:t>los atributos solo pueden depender de la clave primaria</a:t>
            </a:r>
            <a:r>
              <a:rPr b="0" i="0" lang="es-MX" sz="1400" u="none" cap="none" strike="noStrike">
                <a:solidFill>
                  <a:srgbClr val="000000"/>
                </a:solidFill>
                <a:latin typeface="Arial"/>
                <a:ea typeface="Arial"/>
                <a:cs typeface="Arial"/>
                <a:sym typeface="Arial"/>
              </a:rPr>
              <a:t>, no entre ellos mismos.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385623"/>
                </a:solidFill>
                <a:latin typeface="Arial"/>
                <a:ea typeface="Arial"/>
                <a:cs typeface="Arial"/>
                <a:sym typeface="Arial"/>
              </a:rPr>
              <a:t>¿Qué es “dependencia transitiva”? (3FN)</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Cuando un atributo depende de otro atributo que no es la clave primaria, así:</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PK → A →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Entonces B depende “a través” de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Ejemplo: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PK = ID_usuario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A = ID_ciudad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B = Nombre_ciudad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El nombre de la ciudad depende de la ciudad, no del usuario. Esto rompe la 3FN.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500"/>
              <a:buFont typeface="Arial"/>
              <a:buNone/>
            </a:pPr>
            <a:r>
              <a:t/>
            </a:r>
            <a:endParaRPr b="0" i="0" sz="1600" u="none" cap="none" strike="noStrike">
              <a:solidFill>
                <a:schemeClr val="dk1"/>
              </a:solidFill>
              <a:latin typeface="Arial"/>
              <a:ea typeface="Arial"/>
              <a:cs typeface="Arial"/>
              <a:sym typeface="Arial"/>
            </a:endParaRPr>
          </a:p>
        </p:txBody>
      </p:sp>
      <p:pic>
        <p:nvPicPr>
          <p:cNvPr descr="Bases de Datos (BBDD) para la gestión de procesos industriales" id="260" name="Google Shape;260;p35"/>
          <p:cNvPicPr preferRelativeResize="0"/>
          <p:nvPr/>
        </p:nvPicPr>
        <p:blipFill rotWithShape="1">
          <a:blip r:embed="rId3">
            <a:alphaModFix/>
          </a:blip>
          <a:srcRect b="0" l="0" r="0" t="0"/>
          <a:stretch/>
        </p:blipFill>
        <p:spPr>
          <a:xfrm>
            <a:off x="7711010" y="2417885"/>
            <a:ext cx="3695627" cy="27573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p:nvPr/>
        </p:nvSpPr>
        <p:spPr>
          <a:xfrm>
            <a:off x="0" y="7126"/>
            <a:ext cx="5116450" cy="607841"/>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Normalización  </a:t>
            </a:r>
            <a:endParaRPr b="0" i="0" sz="1400" u="none" cap="none" strike="noStrike">
              <a:solidFill>
                <a:schemeClr val="dk1"/>
              </a:solidFill>
              <a:latin typeface="Arial"/>
              <a:ea typeface="Arial"/>
              <a:cs typeface="Arial"/>
              <a:sym typeface="Arial"/>
            </a:endParaRPr>
          </a:p>
        </p:txBody>
      </p:sp>
      <p:pic>
        <p:nvPicPr>
          <p:cNvPr id="267" name="Google Shape;267;p36"/>
          <p:cNvPicPr preferRelativeResize="0"/>
          <p:nvPr/>
        </p:nvPicPr>
        <p:blipFill rotWithShape="1">
          <a:blip r:embed="rId3">
            <a:alphaModFix/>
          </a:blip>
          <a:srcRect b="0" l="0" r="0" t="0"/>
          <a:stretch/>
        </p:blipFill>
        <p:spPr>
          <a:xfrm>
            <a:off x="119680" y="713125"/>
            <a:ext cx="1269504" cy="2269254"/>
          </a:xfrm>
          <a:prstGeom prst="rect">
            <a:avLst/>
          </a:prstGeom>
          <a:noFill/>
          <a:ln>
            <a:noFill/>
          </a:ln>
        </p:spPr>
      </p:pic>
      <p:sp>
        <p:nvSpPr>
          <p:cNvPr id="268" name="Google Shape;268;p36"/>
          <p:cNvSpPr txBox="1"/>
          <p:nvPr/>
        </p:nvSpPr>
        <p:spPr>
          <a:xfrm>
            <a:off x="1547446" y="1427201"/>
            <a:ext cx="647004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porque sus datos están correctamente separados y son atómicos.</a:t>
            </a:r>
            <a:br>
              <a:rPr b="0" i="0" lang="es-MX" sz="1400" u="none" cap="none" strike="noStrike">
                <a:solidFill>
                  <a:srgbClr val="000000"/>
                </a:solidFill>
                <a:latin typeface="Arial"/>
                <a:ea typeface="Arial"/>
                <a:cs typeface="Arial"/>
                <a:sym typeface="Arial"/>
              </a:rPr>
            </a:br>
            <a:r>
              <a:rPr b="0" i="0" lang="es-MX" sz="1400" u="none" cap="none" strike="noStrike">
                <a:solidFill>
                  <a:srgbClr val="000000"/>
                </a:solidFill>
                <a:latin typeface="Arial"/>
                <a:ea typeface="Arial"/>
                <a:cs typeface="Arial"/>
                <a:sym typeface="Arial"/>
              </a:rPr>
              <a:t>Cumple 2FN ya que la clave primaria es simple.</a:t>
            </a:r>
            <a:endParaRPr b="0" i="0" sz="1400" u="none" cap="none" strike="noStrike">
              <a:solidFill>
                <a:srgbClr val="000000"/>
              </a:solidFill>
              <a:latin typeface="Arial"/>
              <a:ea typeface="Arial"/>
              <a:cs typeface="Arial"/>
              <a:sym typeface="Arial"/>
            </a:endParaRPr>
          </a:p>
        </p:txBody>
      </p:sp>
      <p:pic>
        <p:nvPicPr>
          <p:cNvPr id="269" name="Google Shape;269;p36"/>
          <p:cNvPicPr preferRelativeResize="0"/>
          <p:nvPr/>
        </p:nvPicPr>
        <p:blipFill rotWithShape="1">
          <a:blip r:embed="rId4">
            <a:alphaModFix/>
          </a:blip>
          <a:srcRect b="0" l="0" r="0" t="0"/>
          <a:stretch/>
        </p:blipFill>
        <p:spPr>
          <a:xfrm>
            <a:off x="78141" y="2982379"/>
            <a:ext cx="1838582" cy="1857634"/>
          </a:xfrm>
          <a:prstGeom prst="rect">
            <a:avLst/>
          </a:prstGeom>
          <a:noFill/>
          <a:ln>
            <a:noFill/>
          </a:ln>
        </p:spPr>
      </p:pic>
      <p:sp>
        <p:nvSpPr>
          <p:cNvPr id="270" name="Google Shape;270;p36"/>
          <p:cNvSpPr txBox="1"/>
          <p:nvPr/>
        </p:nvSpPr>
        <p:spPr>
          <a:xfrm>
            <a:off x="1916723" y="3958134"/>
            <a:ext cx="90476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2FN y 3FN, ya que todos sus campos son atómicos y dependen únicamente de su clave primaria.</a:t>
            </a:r>
            <a:endParaRPr b="0" i="0" sz="1400" u="none" cap="none" strike="noStrike">
              <a:solidFill>
                <a:srgbClr val="000000"/>
              </a:solidFill>
              <a:latin typeface="Arial"/>
              <a:ea typeface="Arial"/>
              <a:cs typeface="Arial"/>
              <a:sym typeface="Arial"/>
            </a:endParaRPr>
          </a:p>
        </p:txBody>
      </p:sp>
      <p:pic>
        <p:nvPicPr>
          <p:cNvPr id="271" name="Google Shape;271;p36"/>
          <p:cNvPicPr preferRelativeResize="0"/>
          <p:nvPr/>
        </p:nvPicPr>
        <p:blipFill rotWithShape="1">
          <a:blip r:embed="rId5">
            <a:alphaModFix/>
          </a:blip>
          <a:srcRect b="0" l="0" r="0" t="0"/>
          <a:stretch/>
        </p:blipFill>
        <p:spPr>
          <a:xfrm>
            <a:off x="197674" y="4840012"/>
            <a:ext cx="1349771" cy="1858895"/>
          </a:xfrm>
          <a:prstGeom prst="rect">
            <a:avLst/>
          </a:prstGeom>
          <a:noFill/>
          <a:ln>
            <a:noFill/>
          </a:ln>
        </p:spPr>
      </p:pic>
      <p:sp>
        <p:nvSpPr>
          <p:cNvPr id="272" name="Google Shape;272;p36"/>
          <p:cNvSpPr txBox="1"/>
          <p:nvPr/>
        </p:nvSpPr>
        <p:spPr>
          <a:xfrm>
            <a:off x="1459523" y="5615570"/>
            <a:ext cx="102387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al manejar un solo número por registro y cumple 2FN y 3FN porque sus atributos dependen solo del identificador.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7"/>
          <p:cNvPicPr preferRelativeResize="0"/>
          <p:nvPr/>
        </p:nvPicPr>
        <p:blipFill rotWithShape="1">
          <a:blip r:embed="rId3">
            <a:alphaModFix/>
          </a:blip>
          <a:srcRect b="0" l="0" r="0" t="0"/>
          <a:stretch/>
        </p:blipFill>
        <p:spPr>
          <a:xfrm>
            <a:off x="95505" y="133272"/>
            <a:ext cx="1846054" cy="1282289"/>
          </a:xfrm>
          <a:prstGeom prst="rect">
            <a:avLst/>
          </a:prstGeom>
          <a:noFill/>
          <a:ln>
            <a:noFill/>
          </a:ln>
        </p:spPr>
      </p:pic>
      <p:sp>
        <p:nvSpPr>
          <p:cNvPr id="278" name="Google Shape;278;p37"/>
          <p:cNvSpPr txBox="1"/>
          <p:nvPr/>
        </p:nvSpPr>
        <p:spPr>
          <a:xfrm>
            <a:off x="2180492" y="512806"/>
            <a:ext cx="538641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porque el correo es un dato único por campo.</a:t>
            </a:r>
            <a:br>
              <a:rPr b="0" i="0" lang="es-MX" sz="1400" u="none" cap="none" strike="noStrike">
                <a:solidFill>
                  <a:srgbClr val="000000"/>
                </a:solidFill>
                <a:latin typeface="Arial"/>
                <a:ea typeface="Arial"/>
                <a:cs typeface="Arial"/>
                <a:sym typeface="Arial"/>
              </a:rPr>
            </a:br>
            <a:r>
              <a:rPr b="0" i="0" lang="es-MX" sz="1400" u="none" cap="none" strike="noStrike">
                <a:solidFill>
                  <a:srgbClr val="000000"/>
                </a:solidFill>
                <a:latin typeface="Arial"/>
                <a:ea typeface="Arial"/>
                <a:cs typeface="Arial"/>
                <a:sym typeface="Arial"/>
              </a:rPr>
              <a:t>Cumple 2FN y 3FN al depender únicamente de su clave primaria.</a:t>
            </a:r>
            <a:endParaRPr b="0" i="0" sz="1400" u="none" cap="none" strike="noStrike">
              <a:solidFill>
                <a:srgbClr val="000000"/>
              </a:solidFill>
              <a:latin typeface="Arial"/>
              <a:ea typeface="Arial"/>
              <a:cs typeface="Arial"/>
              <a:sym typeface="Arial"/>
            </a:endParaRPr>
          </a:p>
        </p:txBody>
      </p:sp>
      <p:pic>
        <p:nvPicPr>
          <p:cNvPr id="279" name="Google Shape;279;p37"/>
          <p:cNvPicPr preferRelativeResize="0"/>
          <p:nvPr/>
        </p:nvPicPr>
        <p:blipFill rotWithShape="1">
          <a:blip r:embed="rId4">
            <a:alphaModFix/>
          </a:blip>
          <a:srcRect b="0" l="0" r="2805" t="0"/>
          <a:stretch/>
        </p:blipFill>
        <p:spPr>
          <a:xfrm>
            <a:off x="134292" y="1941177"/>
            <a:ext cx="1768480" cy="1305107"/>
          </a:xfrm>
          <a:prstGeom prst="rect">
            <a:avLst/>
          </a:prstGeom>
          <a:noFill/>
          <a:ln>
            <a:noFill/>
          </a:ln>
        </p:spPr>
      </p:pic>
      <p:sp>
        <p:nvSpPr>
          <p:cNvPr id="280" name="Google Shape;280;p37"/>
          <p:cNvSpPr txBox="1"/>
          <p:nvPr/>
        </p:nvSpPr>
        <p:spPr>
          <a:xfrm>
            <a:off x="2180492" y="2382715"/>
            <a:ext cx="744466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2FN y 3FN, ya que el nombre del rol depende únicamente de su identificador.</a:t>
            </a:r>
            <a:endParaRPr b="0" i="0" sz="1400" u="none" cap="none" strike="noStrike">
              <a:solidFill>
                <a:srgbClr val="000000"/>
              </a:solidFill>
              <a:latin typeface="Arial"/>
              <a:ea typeface="Arial"/>
              <a:cs typeface="Arial"/>
              <a:sym typeface="Arial"/>
            </a:endParaRPr>
          </a:p>
        </p:txBody>
      </p:sp>
      <p:pic>
        <p:nvPicPr>
          <p:cNvPr id="281" name="Google Shape;281;p37"/>
          <p:cNvPicPr preferRelativeResize="0"/>
          <p:nvPr/>
        </p:nvPicPr>
        <p:blipFill rotWithShape="1">
          <a:blip r:embed="rId5">
            <a:alphaModFix/>
          </a:blip>
          <a:srcRect b="4678" l="0" r="0" t="0"/>
          <a:stretch/>
        </p:blipFill>
        <p:spPr>
          <a:xfrm>
            <a:off x="134293" y="3506972"/>
            <a:ext cx="2424269" cy="1988220"/>
          </a:xfrm>
          <a:prstGeom prst="rect">
            <a:avLst/>
          </a:prstGeom>
          <a:noFill/>
          <a:ln>
            <a:noFill/>
          </a:ln>
        </p:spPr>
      </p:pic>
      <p:sp>
        <p:nvSpPr>
          <p:cNvPr id="282" name="Google Shape;282;p37"/>
          <p:cNvSpPr txBox="1"/>
          <p:nvPr/>
        </p:nvSpPr>
        <p:spPr>
          <a:xfrm>
            <a:off x="2620108" y="4185138"/>
            <a:ext cx="548579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al tener datos bien separados.</a:t>
            </a:r>
            <a:br>
              <a:rPr b="0" i="0" lang="es-MX" sz="1400" u="none" cap="none" strike="noStrike">
                <a:solidFill>
                  <a:srgbClr val="000000"/>
                </a:solidFill>
                <a:latin typeface="Arial"/>
                <a:ea typeface="Arial"/>
                <a:cs typeface="Arial"/>
                <a:sym typeface="Arial"/>
              </a:rPr>
            </a:br>
            <a:r>
              <a:rPr b="0" i="0" lang="es-MX" sz="1400" u="none" cap="none" strike="noStrike">
                <a:solidFill>
                  <a:srgbClr val="000000"/>
                </a:solidFill>
                <a:latin typeface="Arial"/>
                <a:ea typeface="Arial"/>
                <a:cs typeface="Arial"/>
                <a:sym typeface="Arial"/>
              </a:rPr>
              <a:t>Cumple 2FN porque la clave primaria es simple.</a:t>
            </a:r>
            <a:br>
              <a:rPr b="0" i="0" lang="es-MX" sz="1400" u="none" cap="none" strike="noStrike">
                <a:solidFill>
                  <a:srgbClr val="000000"/>
                </a:solidFill>
                <a:latin typeface="Arial"/>
                <a:ea typeface="Arial"/>
                <a:cs typeface="Arial"/>
                <a:sym typeface="Arial"/>
              </a:rPr>
            </a:br>
            <a:r>
              <a:rPr b="0" i="0" lang="es-MX" sz="1400" u="none" cap="none" strike="noStrike">
                <a:solidFill>
                  <a:srgbClr val="000000"/>
                </a:solidFill>
                <a:latin typeface="Arial"/>
                <a:ea typeface="Arial"/>
                <a:cs typeface="Arial"/>
                <a:sym typeface="Arial"/>
              </a:rPr>
              <a:t>Cumple 3FN al relacionarse con roles mediante una clave foránea.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8"/>
          <p:cNvPicPr preferRelativeResize="0"/>
          <p:nvPr/>
        </p:nvPicPr>
        <p:blipFill rotWithShape="1">
          <a:blip r:embed="rId3">
            <a:alphaModFix/>
          </a:blip>
          <a:srcRect b="0" l="0" r="0" t="0"/>
          <a:stretch/>
        </p:blipFill>
        <p:spPr>
          <a:xfrm>
            <a:off x="149469" y="61547"/>
            <a:ext cx="1940079" cy="2681654"/>
          </a:xfrm>
          <a:prstGeom prst="rect">
            <a:avLst/>
          </a:prstGeom>
          <a:noFill/>
          <a:ln>
            <a:noFill/>
          </a:ln>
        </p:spPr>
      </p:pic>
      <p:sp>
        <p:nvSpPr>
          <p:cNvPr id="288" name="Google Shape;288;p38"/>
          <p:cNvSpPr txBox="1"/>
          <p:nvPr/>
        </p:nvSpPr>
        <p:spPr>
          <a:xfrm>
            <a:off x="2191323" y="773724"/>
            <a:ext cx="82814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Cumple 1FN, 2FN y 3FN, ya que todos sus datos dependen directamente del identificador del técnico.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89" name="Google Shape;289;p38"/>
          <p:cNvPicPr preferRelativeResize="0"/>
          <p:nvPr/>
        </p:nvPicPr>
        <p:blipFill rotWithShape="1">
          <a:blip r:embed="rId4">
            <a:alphaModFix/>
          </a:blip>
          <a:srcRect b="0" l="0" r="0" t="2069"/>
          <a:stretch/>
        </p:blipFill>
        <p:spPr>
          <a:xfrm>
            <a:off x="149469" y="2708031"/>
            <a:ext cx="1905266" cy="3862296"/>
          </a:xfrm>
          <a:prstGeom prst="rect">
            <a:avLst/>
          </a:prstGeom>
          <a:noFill/>
          <a:ln>
            <a:noFill/>
          </a:ln>
        </p:spPr>
      </p:pic>
      <p:sp>
        <p:nvSpPr>
          <p:cNvPr id="290" name="Google Shape;290;p38"/>
          <p:cNvSpPr txBox="1"/>
          <p:nvPr/>
        </p:nvSpPr>
        <p:spPr>
          <a:xfrm>
            <a:off x="2321169" y="3543300"/>
            <a:ext cx="5926016"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La tabla </a:t>
            </a:r>
            <a:r>
              <a:rPr b="1" i="0" lang="es-MX" sz="1400" u="none" cap="none" strike="noStrike">
                <a:solidFill>
                  <a:srgbClr val="000000"/>
                </a:solidFill>
                <a:latin typeface="Arial"/>
                <a:ea typeface="Arial"/>
                <a:cs typeface="Arial"/>
                <a:sym typeface="Arial"/>
              </a:rPr>
              <a:t>Solicitud</a:t>
            </a:r>
            <a:r>
              <a:rPr b="0" i="0" lang="es-MX" sz="1400" u="none" cap="none" strike="noStrike">
                <a:solidFill>
                  <a:srgbClr val="000000"/>
                </a:solidFill>
                <a:latin typeface="Arial"/>
                <a:ea typeface="Arial"/>
                <a:cs typeface="Arial"/>
                <a:sym typeface="Arial"/>
              </a:rPr>
              <a:t> cumple </a:t>
            </a:r>
            <a:r>
              <a:rPr b="1" i="0" lang="es-MX" sz="1400" u="none" cap="none" strike="noStrike">
                <a:solidFill>
                  <a:srgbClr val="000000"/>
                </a:solidFill>
                <a:latin typeface="Arial"/>
                <a:ea typeface="Arial"/>
                <a:cs typeface="Arial"/>
                <a:sym typeface="Arial"/>
              </a:rPr>
              <a:t>1FN</a:t>
            </a:r>
            <a:r>
              <a:rPr b="0" i="0" lang="es-MX" sz="1400" u="none" cap="none" strike="noStrike">
                <a:solidFill>
                  <a:srgbClr val="000000"/>
                </a:solidFill>
                <a:latin typeface="Arial"/>
                <a:ea typeface="Arial"/>
                <a:cs typeface="Arial"/>
                <a:sym typeface="Arial"/>
              </a:rPr>
              <a:t> porque todos sus datos son atómicos y están correctamente separados. Cumple </a:t>
            </a:r>
            <a:r>
              <a:rPr b="1" i="0" lang="es-MX" sz="1400" u="none" cap="none" strike="noStrike">
                <a:solidFill>
                  <a:srgbClr val="000000"/>
                </a:solidFill>
                <a:latin typeface="Arial"/>
                <a:ea typeface="Arial"/>
                <a:cs typeface="Arial"/>
                <a:sym typeface="Arial"/>
              </a:rPr>
              <a:t>2FN</a:t>
            </a:r>
            <a:r>
              <a:rPr b="0" i="0" lang="es-MX" sz="1400" u="none" cap="none" strike="noStrike">
                <a:solidFill>
                  <a:srgbClr val="000000"/>
                </a:solidFill>
                <a:latin typeface="Arial"/>
                <a:ea typeface="Arial"/>
                <a:cs typeface="Arial"/>
                <a:sym typeface="Arial"/>
              </a:rPr>
              <a:t> porque su clave primaria es simple, por lo que no existen dependencias parciales.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Imagen que contiene Interfaz de usuario gráfica&#10;&#10;Descripción generada automáticamente" id="295" name="Google Shape;295;p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